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81ca218-e066-e640-4387-62914e282435}">
          <p14:sldIdLst>
            <p14:sldId id="256"/>
          </p14:sldIdLst>
        </p14:section>
        <p14:section name="Problem and solution" id="{0601d1a4-c666-11ca-328b-fe1b8e08f961}">
          <p14:sldIdLst>
            <p14:sldId id="257"/>
            <p14:sldId id="258"/>
          </p14:sldIdLst>
        </p14:section>
        <p14:section name="How it works" id="{88836b6d-9ec5-95f2-3036-9bee61e2a7bb}">
          <p14:sldIdLst>
            <p14:sldId id="259"/>
            <p14:sldId id="260"/>
          </p14:sldIdLst>
        </p14:section>
        <p14:section name="Results" id="{5e529a93-4d33-e5d6-eab9-9c98caa265ef}">
          <p14:sldIdLst>
            <p14:sldId id="261"/>
            <p14:sldId id="262"/>
            <p14:sldId id="263"/>
            <p14:sldId id="264"/>
          </p14:sldIdLst>
        </p14:section>
        <p14:section name="Live demo" id="{3aa4ed75-8f8b-571e-78ec-4e5778ccd2bc}">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meeting with the 30-second video: click it to play. It shows the late-night struggle, the one-click paper, and what the teacher does with the saved time. After it ends: 'This is what we built for teachers like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principal or HOD: how long does a preboard paper take your teachers today? Most say 4 to 6 hours: reading the sample paper, balancing chapters, writing questions and typing the answer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ideas: AI drafts, the teacher decides, one click makes the paper. Stress that the teacher stays in charge of every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arrows move during the slideshow. Walk left to right: official CBSE sources → AI agents → the question bank → the teacher's red pen → the app that makes the paper. Point at the red loop: only approved questions are saved for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difference: the AI never publishes on its own. New questions arrive as pending; the teacher approves, edits or rejects. The system also refuses wrong marks, wrong MCQ answers and duplicate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a teacher needs for the exam day: the paper, the answer key with marking, and a check that the chapter marks match the blueprint.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now follows the exact Board 2027 pattern from the official CBSE sample paper: Biology, Chemistry and Physics sections, the same question types and OR choices. Be clear that the Biology preboard is live today, and the full 80-mark paper is rolling out as Physics and Chemistry questions are written and approved by teachers. Demo only the Biology paper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benefit is not the software – it is the teacher's time. Hours saved go back to students and to the teacher's own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 a simple next step: a pilot with the Class 10 Science teachers for the coming preboard. Then expand to other subjects.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gold button (in slideshow mode) to open the app. Log in, type the school's name, press Generate, show the three tabs and download both PDFs. Then open Teacher review to show approve / edit / reject.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pic>
        <p:nvPicPr>
          <p:cNvPr id="2" name="Image 0" descr="C:\Users\lavan\AppData\Local\Temp\claude\c--Users-lavan-Desktop-AI-Projects-preboard-generator-2310\c0b0e588-07af-4450-b94f-1570c39be517\scratchpad\deck\logo.png">    </p:cNvPr>
          <p:cNvPicPr>
            <a:picLocks noChangeAspect="1"/>
          </p:cNvPicPr>
          <p:nvPr/>
        </p:nvPicPr>
        <p:blipFill>
          <a:blip r:embed="rId1"/>
          <a:stretch>
            <a:fillRect/>
          </a:stretch>
        </p:blipFill>
        <p:spPr>
          <a:xfrm>
            <a:off x="548640" y="6263640"/>
            <a:ext cx="347472" cy="347472"/>
          </a:xfrm>
          <a:prstGeom prst="rect">
            <a:avLst/>
          </a:prstGeom>
        </p:spPr>
      </p:pic>
      <p:sp>
        <p:nvSpPr>
          <p:cNvPr id="3" name="Text 0"/>
          <p:cNvSpPr/>
          <p:nvPr/>
        </p:nvSpPr>
        <p:spPr>
          <a:xfrm>
            <a:off x="987552" y="6263640"/>
            <a:ext cx="5486400" cy="347472"/>
          </a:xfrm>
          <a:prstGeom prst="rect">
            <a:avLst/>
          </a:prstGeom>
          <a:noFill/>
          <a:ln/>
        </p:spPr>
        <p:txBody>
          <a:bodyPr wrap="square" lIns="0" tIns="0" rIns="0" bIns="0" rtlCol="0" anchor="ctr"/>
          <a:lstStyle/>
          <a:p>
            <a:pPr indent="0" marL="0">
              <a:buNone/>
            </a:pPr>
            <a:r>
              <a:rPr lang="en-US" sz="1100" dirty="0">
                <a:solidFill>
                  <a:schemeClr val="accent6"/>
                </a:solidFill>
              </a:rPr>
              <a:t>Lavanya AI Consultancy  ·  Preboard Generator</a:t>
            </a:r>
            <a:endParaRPr lang="en-US" sz="1100" dirty="0"/>
          </a:p>
        </p:txBody>
      </p:sp>
      <p:sp>
        <p:nvSpPr>
          <p:cNvPr id="4" name="Text 1"/>
          <p:cNvSpPr/>
          <p:nvPr>
            <p:ph idx="102" type="title" hasCustomPrompt="1"/>
          </p:nvPr>
        </p:nvSpPr>
        <p:spPr>
          <a:xfrm>
            <a:off x="548640" y="411480"/>
            <a:ext cx="11064240" cy="868680"/>
          </a:xfrm>
          <a:prstGeom prst="rect">
            <a:avLst/>
          </a:prstGeom>
          <a:noFill/>
          <a:ln/>
        </p:spPr>
        <p:txBody>
          <a:bodyPr wrap="square" rtlCol="0"/>
          <a:lstStyle>
            <a:lvl1pPr indent="0" marL="0">
              <a:buNone/>
              <a:defRPr lang="en-US" sz="3600" b="1" dirty="0">
                <a:solidFill>
                  <a:schemeClr val="tx2"/>
                </a:solidFill>
              </a:defRPr>
            </a:lvl1pPr>
          </a:lstStyle>
          <a:p>
            <a:pPr indent="0" marL="0">
              <a:buNone/>
            </a:pPr>
            <a:endParaRPr lang="en-US" sz="3600" dirty="0"/>
          </a:p>
        </p:txBody>
      </p:sp>
      <p:sp>
        <p:nvSpPr>
          <p:cNvPr id="25" name="Slide Number Placeholder 0"/>
          <p:cNvSpPr>
            <a:spLocks noGrp="1"/>
          </p:cNvSpPr>
          <p:nvPr>
            <p:ph type="sldNum" sz="quarter" idx="4294967295"/>
          </p:nvPr>
        </p:nvSpPr>
        <p:spPr>
          <a:xfrm>
            <a:off x="11155680" y="6263640"/>
            <a:ext cx="457200" cy="347472"/>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263640"/>
            <a:ext cx="457200" cy="347472"/>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video" Target="../media/media-1-2.mp4"/><Relationship Id="rId3" Type="http://schemas.microsoft.com/office/2007/relationships/media" Target="../media/media-1-2.mp4"/><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gif"/><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preboard-generator-2310-qpmeqm9tvb8cqjj2svebav.streamlit.app" TargetMode="External"/><Relationship Id="rId1"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lavan\AppData\Local\Temp\claude\c--Users-lavan-Desktop-AI-Projects-preboard-generator-2310\c0b0e588-07af-4450-b94f-1570c39be517\scratchpad\deck\logo.png">    </p:cNvPr>
          <p:cNvPicPr>
            <a:picLocks noChangeAspect="1"/>
          </p:cNvPicPr>
          <p:nvPr/>
        </p:nvPicPr>
        <p:blipFill>
          <a:blip r:embed="rId1"/>
          <a:stretch>
            <a:fillRect/>
          </a:stretch>
        </p:blipFill>
        <p:spPr>
          <a:xfrm>
            <a:off x="731520" y="731520"/>
            <a:ext cx="1371600" cy="1371600"/>
          </a:xfrm>
          <a:prstGeom prst="rect">
            <a:avLst/>
          </a:prstGeom>
        </p:spPr>
      </p:pic>
      <p:sp>
        <p:nvSpPr>
          <p:cNvPr id="3" name="Text 0"/>
          <p:cNvSpPr txBox="1"/>
          <p:nvPr/>
        </p:nvSpPr>
        <p:spPr>
          <a:xfrm>
            <a:off x="731520" y="2377440"/>
            <a:ext cx="5669280" cy="9144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Preboard Generator</a:t>
            </a:r>
            <a:endParaRPr lang="en-US" sz="4400" dirty="0"/>
          </a:p>
        </p:txBody>
      </p:sp>
      <p:sp>
        <p:nvSpPr>
          <p:cNvPr id="4" name="Text 1"/>
          <p:cNvSpPr txBox="1"/>
          <p:nvPr/>
        </p:nvSpPr>
        <p:spPr>
          <a:xfrm>
            <a:off x="731520" y="3291840"/>
            <a:ext cx="5669280" cy="822960"/>
          </a:xfrm>
          <a:prstGeom prst="rect">
            <a:avLst/>
          </a:prstGeom>
          <a:noFill/>
          <a:ln/>
        </p:spPr>
        <p:txBody>
          <a:bodyPr wrap="square" lIns="0" tIns="0" rIns="0" bIns="0" rtlCol="0" anchor="ctr"/>
          <a:lstStyle/>
          <a:p>
            <a:pPr indent="0" marL="0">
              <a:buNone/>
            </a:pPr>
            <a:r>
              <a:rPr lang="en-US" sz="2200" dirty="0">
                <a:solidFill>
                  <a:schemeClr val="bg1"/>
                </a:solidFill>
              </a:rPr>
              <a:t>CBSE Class 10 Science preboard papers in minutes.</a:t>
            </a:r>
            <a:endParaRPr lang="en-US" sz="2200" dirty="0"/>
          </a:p>
        </p:txBody>
      </p:sp>
      <p:sp>
        <p:nvSpPr>
          <p:cNvPr id="5" name="Text 2"/>
          <p:cNvSpPr txBox="1"/>
          <p:nvPr/>
        </p:nvSpPr>
        <p:spPr>
          <a:xfrm>
            <a:off x="731520" y="4114800"/>
            <a:ext cx="5669280" cy="548640"/>
          </a:xfrm>
          <a:prstGeom prst="rect">
            <a:avLst/>
          </a:prstGeom>
          <a:noFill/>
          <a:ln/>
        </p:spPr>
        <p:txBody>
          <a:bodyPr wrap="square" lIns="0" tIns="0" rIns="0" bIns="0" rtlCol="0" anchor="ctr"/>
          <a:lstStyle/>
          <a:p>
            <a:pPr indent="0" marL="0">
              <a:buNone/>
            </a:pPr>
            <a:r>
              <a:rPr lang="en-US" sz="2400" b="1" dirty="0">
                <a:solidFill>
                  <a:srgbClr val="8FA9F5"/>
                </a:solidFill>
              </a:rPr>
              <a:t>AI drafts. </a:t>
            </a:r>
            <a:pPr indent="0" marL="0">
              <a:buNone/>
            </a:pPr>
            <a:r>
              <a:rPr lang="en-US" sz="2400" b="1" dirty="0">
                <a:solidFill>
                  <a:srgbClr val="F08A80"/>
                </a:solidFill>
              </a:rPr>
              <a:t>The teacher decides.</a:t>
            </a:r>
            <a:endParaRPr lang="en-US" sz="2400" dirty="0"/>
          </a:p>
        </p:txBody>
      </p:sp>
      <p:sp>
        <p:nvSpPr>
          <p:cNvPr id="6" name="Text 3"/>
          <p:cNvSpPr txBox="1"/>
          <p:nvPr/>
        </p:nvSpPr>
        <p:spPr>
          <a:xfrm>
            <a:off x="731520" y="5394960"/>
            <a:ext cx="5669280" cy="457200"/>
          </a:xfrm>
          <a:prstGeom prst="rect">
            <a:avLst/>
          </a:prstGeom>
          <a:noFill/>
          <a:ln/>
        </p:spPr>
        <p:txBody>
          <a:bodyPr wrap="square" lIns="0" tIns="0" rIns="0" bIns="0" rtlCol="0" anchor="ctr"/>
          <a:lstStyle/>
          <a:p>
            <a:pPr indent="0" marL="0">
              <a:buNone/>
            </a:pPr>
            <a:r>
              <a:rPr lang="en-US" sz="1500" i="1" dirty="0">
                <a:solidFill>
                  <a:schemeClr val="accent1"/>
                </a:solidFill>
              </a:rPr>
              <a:t>A Lavanya AI Consultancy initiative to make Schools AI-enabled</a:t>
            </a:r>
            <a:endParaRPr lang="en-US" sz="1500" dirty="0"/>
          </a:p>
        </p:txBody>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6903720" y="411480"/>
            <a:ext cx="4828032" cy="6035040"/>
          </a:xfrm>
          <a:prstGeom prst="rect">
            <a:avLst/>
          </a:prstGeom>
        </p:spPr>
      </p:pic>
      <p:sp>
        <p:nvSpPr>
          <p:cNvPr id="8" name="Text 4"/>
          <p:cNvSpPr txBox="1"/>
          <p:nvPr/>
        </p:nvSpPr>
        <p:spPr>
          <a:xfrm>
            <a:off x="6903720" y="6464808"/>
            <a:ext cx="4828032" cy="320040"/>
          </a:xfrm>
          <a:prstGeom prst="rect">
            <a:avLst/>
          </a:prstGeom>
          <a:noFill/>
          <a:ln/>
        </p:spPr>
        <p:txBody>
          <a:bodyPr wrap="square" lIns="0" tIns="0" rIns="0" bIns="0" rtlCol="0" anchor="ctr"/>
          <a:lstStyle/>
          <a:p>
            <a:pPr algn="ctr" indent="0" marL="0">
              <a:buNone/>
            </a:pPr>
            <a:r>
              <a:rPr lang="en-US" sz="1200" dirty="0">
                <a:solidFill>
                  <a:srgbClr val="C9B48A"/>
                </a:solidFill>
              </a:rPr>
              <a:t>Click the video to play  ▶</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868680"/>
          </a:xfrm>
          <a:prstGeom prst="rect">
            <a:avLst/>
          </a:prstGeom>
          <a:noFill/>
          <a:ln/>
        </p:spPr>
        <p:txBody>
          <a:bodyPr wrap="square" lIns="0" tIns="0" rIns="0" bIns="0" rtlCol="0" anchor="t"/>
          <a:lstStyle/>
          <a:p>
            <a:pPr indent="0" marL="0">
              <a:buNone/>
            </a:pPr>
            <a:r>
              <a:rPr lang="en-US" sz="3600" b="1" dirty="0">
                <a:solidFill>
                  <a:schemeClr val="tx2"/>
                </a:solidFill>
              </a:rPr>
              <a:t>Every preboard paper costs a teacher hours</a:t>
            </a:r>
            <a:endParaRPr lang="en-US" sz="3600" dirty="0"/>
          </a:p>
        </p:txBody>
      </p:sp>
      <p:sp>
        <p:nvSpPr>
          <p:cNvPr id="3" name="Shape 1"/>
          <p:cNvSpPr/>
          <p:nvPr/>
        </p:nvSpPr>
        <p:spPr>
          <a:xfrm>
            <a:off x="548640" y="1508760"/>
            <a:ext cx="3931920" cy="4480560"/>
          </a:xfrm>
          <a:prstGeom prst="roundRect">
            <a:avLst>
              <a:gd name="adj" fmla="val 2791"/>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4" name="Text 2"/>
          <p:cNvSpPr txBox="1"/>
          <p:nvPr/>
        </p:nvSpPr>
        <p:spPr>
          <a:xfrm>
            <a:off x="822960" y="2011680"/>
            <a:ext cx="3383280" cy="128016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4–6 hrs</a:t>
            </a:r>
            <a:endParaRPr lang="en-US" sz="7200" dirty="0"/>
          </a:p>
        </p:txBody>
      </p:sp>
      <p:sp>
        <p:nvSpPr>
          <p:cNvPr id="5" name="Text 3"/>
          <p:cNvSpPr txBox="1"/>
          <p:nvPr/>
        </p:nvSpPr>
        <p:spPr>
          <a:xfrm>
            <a:off x="822960" y="3383280"/>
            <a:ext cx="3383280" cy="1188720"/>
          </a:xfrm>
          <a:prstGeom prst="rect">
            <a:avLst/>
          </a:prstGeom>
          <a:noFill/>
          <a:ln/>
        </p:spPr>
        <p:txBody>
          <a:bodyPr wrap="square" lIns="0" tIns="0" rIns="0" bIns="0" rtlCol="0" anchor="t"/>
          <a:lstStyle/>
          <a:p>
            <a:pPr indent="0" marL="0">
              <a:buNone/>
            </a:pPr>
            <a:r>
              <a:rPr lang="en-US" sz="1800" dirty="0">
                <a:solidFill>
                  <a:schemeClr val="tx2"/>
                </a:solidFill>
              </a:rPr>
              <a:t>to prepare ONE preboard paper – often late at night, after a full school day.</a:t>
            </a:r>
            <a:endParaRPr lang="en-US" sz="1800" dirty="0"/>
          </a:p>
        </p:txBody>
      </p:sp>
      <p:sp>
        <p:nvSpPr>
          <p:cNvPr id="6" name="Text 4"/>
          <p:cNvSpPr txBox="1"/>
          <p:nvPr/>
        </p:nvSpPr>
        <p:spPr>
          <a:xfrm>
            <a:off x="822960" y="4937760"/>
            <a:ext cx="3383280" cy="731520"/>
          </a:xfrm>
          <a:prstGeom prst="rect">
            <a:avLst/>
          </a:prstGeom>
          <a:noFill/>
          <a:ln/>
        </p:spPr>
        <p:txBody>
          <a:bodyPr wrap="square" lIns="0" tIns="0" rIns="0" bIns="0" rtlCol="0" anchor="ctr"/>
          <a:lstStyle/>
          <a:p>
            <a:pPr indent="0" marL="0">
              <a:buNone/>
            </a:pPr>
            <a:r>
              <a:rPr lang="en-US" sz="1500" i="1" dirty="0">
                <a:solidFill>
                  <a:schemeClr val="accent6"/>
                </a:solidFill>
              </a:rPr>
              <a:t>Every class. Every subject. Every preboard round.</a:t>
            </a:r>
            <a:endParaRPr lang="en-US" sz="1500" dirty="0"/>
          </a:p>
        </p:txBody>
      </p:sp>
      <p:sp>
        <p:nvSpPr>
          <p:cNvPr id="7" name="Shape 5"/>
          <p:cNvSpPr/>
          <p:nvPr/>
        </p:nvSpPr>
        <p:spPr>
          <a:xfrm>
            <a:off x="4800600" y="1508760"/>
            <a:ext cx="6812280" cy="960120"/>
          </a:xfrm>
          <a:prstGeom prst="roundRect">
            <a:avLst>
              <a:gd name="adj" fmla="val 11429"/>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8" name="Text 6"/>
          <p:cNvSpPr txBox="1"/>
          <p:nvPr/>
        </p:nvSpPr>
        <p:spPr>
          <a:xfrm>
            <a:off x="5029200" y="1691640"/>
            <a:ext cx="594360" cy="594360"/>
          </a:xfrm>
          <a:prstGeom prst="ellipse">
            <a:avLst/>
          </a:prstGeom>
          <a:solidFill>
            <a:schemeClr val="accent3"/>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9" name="Text 7"/>
          <p:cNvSpPr txBox="1"/>
          <p:nvPr/>
        </p:nvSpPr>
        <p:spPr>
          <a:xfrm>
            <a:off x="5852160" y="1636776"/>
            <a:ext cx="5577840" cy="411480"/>
          </a:xfrm>
          <a:prstGeom prst="rect">
            <a:avLst/>
          </a:prstGeom>
          <a:noFill/>
          <a:ln/>
        </p:spPr>
        <p:txBody>
          <a:bodyPr wrap="square" lIns="0" tIns="0" rIns="0" bIns="0" rtlCol="0" anchor="ctr"/>
          <a:lstStyle/>
          <a:p>
            <a:pPr indent="0" marL="0">
              <a:buNone/>
            </a:pPr>
            <a:r>
              <a:rPr lang="en-US" sz="1900" b="1" dirty="0">
                <a:solidFill>
                  <a:schemeClr val="tx2"/>
                </a:solidFill>
              </a:rPr>
              <a:t>Read the CBSE sample paper</a:t>
            </a:r>
            <a:endParaRPr lang="en-US" sz="1900" dirty="0"/>
          </a:p>
        </p:txBody>
      </p:sp>
      <p:sp>
        <p:nvSpPr>
          <p:cNvPr id="10" name="Text 8"/>
          <p:cNvSpPr txBox="1"/>
          <p:nvPr/>
        </p:nvSpPr>
        <p:spPr>
          <a:xfrm>
            <a:off x="5852160" y="2020824"/>
            <a:ext cx="5577840" cy="347472"/>
          </a:xfrm>
          <a:prstGeom prst="rect">
            <a:avLst/>
          </a:prstGeom>
          <a:noFill/>
          <a:ln/>
        </p:spPr>
        <p:txBody>
          <a:bodyPr wrap="square" lIns="0" tIns="0" rIns="0" bIns="0" rtlCol="0" anchor="ctr"/>
          <a:lstStyle/>
          <a:p>
            <a:pPr indent="0" marL="0">
              <a:buNone/>
            </a:pPr>
            <a:r>
              <a:rPr lang="en-US" sz="1500" dirty="0">
                <a:solidFill>
                  <a:schemeClr val="accent6"/>
                </a:solidFill>
              </a:rPr>
              <a:t>Study the 2026-27 pattern and marking scheme</a:t>
            </a:r>
            <a:endParaRPr lang="en-US" sz="1500" dirty="0"/>
          </a:p>
        </p:txBody>
      </p:sp>
      <p:sp>
        <p:nvSpPr>
          <p:cNvPr id="11" name="Shape 9"/>
          <p:cNvSpPr/>
          <p:nvPr/>
        </p:nvSpPr>
        <p:spPr>
          <a:xfrm>
            <a:off x="4800600" y="2651760"/>
            <a:ext cx="6812280" cy="960120"/>
          </a:xfrm>
          <a:prstGeom prst="roundRect">
            <a:avLst>
              <a:gd name="adj" fmla="val 11429"/>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2" name="Text 10"/>
          <p:cNvSpPr txBox="1"/>
          <p:nvPr/>
        </p:nvSpPr>
        <p:spPr>
          <a:xfrm>
            <a:off x="5029200" y="2834640"/>
            <a:ext cx="594360" cy="594360"/>
          </a:xfrm>
          <a:prstGeom prst="ellipse">
            <a:avLst/>
          </a:prstGeom>
          <a:solidFill>
            <a:schemeClr val="accent3"/>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3" name="Text 11"/>
          <p:cNvSpPr txBox="1"/>
          <p:nvPr/>
        </p:nvSpPr>
        <p:spPr>
          <a:xfrm>
            <a:off x="5852160" y="2779776"/>
            <a:ext cx="5577840" cy="411480"/>
          </a:xfrm>
          <a:prstGeom prst="rect">
            <a:avLst/>
          </a:prstGeom>
          <a:noFill/>
          <a:ln/>
        </p:spPr>
        <p:txBody>
          <a:bodyPr wrap="square" lIns="0" tIns="0" rIns="0" bIns="0" rtlCol="0" anchor="ctr"/>
          <a:lstStyle/>
          <a:p>
            <a:pPr indent="0" marL="0">
              <a:buNone/>
            </a:pPr>
            <a:r>
              <a:rPr lang="en-US" sz="1900" b="1" dirty="0">
                <a:solidFill>
                  <a:schemeClr val="tx2"/>
                </a:solidFill>
              </a:rPr>
              <a:t>Balance marks across chapters</a:t>
            </a:r>
            <a:endParaRPr lang="en-US" sz="1900" dirty="0"/>
          </a:p>
        </p:txBody>
      </p:sp>
      <p:sp>
        <p:nvSpPr>
          <p:cNvPr id="14" name="Text 12"/>
          <p:cNvSpPr txBox="1"/>
          <p:nvPr/>
        </p:nvSpPr>
        <p:spPr>
          <a:xfrm>
            <a:off x="5852160" y="3163824"/>
            <a:ext cx="5577840" cy="347472"/>
          </a:xfrm>
          <a:prstGeom prst="rect">
            <a:avLst/>
          </a:prstGeom>
          <a:noFill/>
          <a:ln/>
        </p:spPr>
        <p:txBody>
          <a:bodyPr wrap="square" lIns="0" tIns="0" rIns="0" bIns="0" rtlCol="0" anchor="ctr"/>
          <a:lstStyle/>
          <a:p>
            <a:pPr indent="0" marL="0">
              <a:buNone/>
            </a:pPr>
            <a:r>
              <a:rPr lang="en-US" sz="1500" dirty="0">
                <a:solidFill>
                  <a:schemeClr val="accent6"/>
                </a:solidFill>
              </a:rPr>
              <a:t>Match marks per chapter, types and difficulty</a:t>
            </a:r>
            <a:endParaRPr lang="en-US" sz="1500" dirty="0"/>
          </a:p>
        </p:txBody>
      </p:sp>
      <p:sp>
        <p:nvSpPr>
          <p:cNvPr id="15" name="Shape 13"/>
          <p:cNvSpPr/>
          <p:nvPr/>
        </p:nvSpPr>
        <p:spPr>
          <a:xfrm>
            <a:off x="4800600" y="3794760"/>
            <a:ext cx="6812280" cy="960120"/>
          </a:xfrm>
          <a:prstGeom prst="roundRect">
            <a:avLst>
              <a:gd name="adj" fmla="val 11429"/>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6" name="Text 14"/>
          <p:cNvSpPr txBox="1"/>
          <p:nvPr/>
        </p:nvSpPr>
        <p:spPr>
          <a:xfrm>
            <a:off x="5029200" y="3977640"/>
            <a:ext cx="594360" cy="594360"/>
          </a:xfrm>
          <a:prstGeom prst="ellipse">
            <a:avLst/>
          </a:prstGeom>
          <a:solidFill>
            <a:schemeClr val="accent3"/>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Text 15"/>
          <p:cNvSpPr txBox="1"/>
          <p:nvPr/>
        </p:nvSpPr>
        <p:spPr>
          <a:xfrm>
            <a:off x="5852160" y="3922776"/>
            <a:ext cx="5577840" cy="411480"/>
          </a:xfrm>
          <a:prstGeom prst="rect">
            <a:avLst/>
          </a:prstGeom>
          <a:noFill/>
          <a:ln/>
        </p:spPr>
        <p:txBody>
          <a:bodyPr wrap="square" lIns="0" tIns="0" rIns="0" bIns="0" rtlCol="0" anchor="ctr"/>
          <a:lstStyle/>
          <a:p>
            <a:pPr indent="0" marL="0">
              <a:buNone/>
            </a:pPr>
            <a:r>
              <a:rPr lang="en-US" sz="1900" b="1" dirty="0">
                <a:solidFill>
                  <a:schemeClr val="tx2"/>
                </a:solidFill>
              </a:rPr>
              <a:t>Write 16 fresh questions</a:t>
            </a:r>
            <a:endParaRPr lang="en-US" sz="1900" dirty="0"/>
          </a:p>
        </p:txBody>
      </p:sp>
      <p:sp>
        <p:nvSpPr>
          <p:cNvPr id="18" name="Text 16"/>
          <p:cNvSpPr txBox="1"/>
          <p:nvPr/>
        </p:nvSpPr>
        <p:spPr>
          <a:xfrm>
            <a:off x="5852160" y="4306824"/>
            <a:ext cx="5577840" cy="347472"/>
          </a:xfrm>
          <a:prstGeom prst="rect">
            <a:avLst/>
          </a:prstGeom>
          <a:noFill/>
          <a:ln/>
        </p:spPr>
        <p:txBody>
          <a:bodyPr wrap="square" lIns="0" tIns="0" rIns="0" bIns="0" rtlCol="0" anchor="ctr"/>
          <a:lstStyle/>
          <a:p>
            <a:pPr indent="0" marL="0">
              <a:buNone/>
            </a:pPr>
            <a:r>
              <a:rPr lang="en-US" sz="1500" dirty="0">
                <a:solidFill>
                  <a:schemeClr val="accent6"/>
                </a:solidFill>
              </a:rPr>
              <a:t>Case-based, assertion–reason, competency-based</a:t>
            </a:r>
            <a:endParaRPr lang="en-US" sz="1500" dirty="0"/>
          </a:p>
        </p:txBody>
      </p:sp>
      <p:sp>
        <p:nvSpPr>
          <p:cNvPr id="19" name="Shape 17"/>
          <p:cNvSpPr/>
          <p:nvPr/>
        </p:nvSpPr>
        <p:spPr>
          <a:xfrm>
            <a:off x="4800600" y="4937760"/>
            <a:ext cx="6812280" cy="960120"/>
          </a:xfrm>
          <a:prstGeom prst="roundRect">
            <a:avLst>
              <a:gd name="adj" fmla="val 11429"/>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20" name="Text 18"/>
          <p:cNvSpPr txBox="1"/>
          <p:nvPr/>
        </p:nvSpPr>
        <p:spPr>
          <a:xfrm>
            <a:off x="5029200" y="5120640"/>
            <a:ext cx="594360" cy="594360"/>
          </a:xfrm>
          <a:prstGeom prst="ellipse">
            <a:avLst/>
          </a:prstGeom>
          <a:solidFill>
            <a:schemeClr val="accent3"/>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1" name="Text 19"/>
          <p:cNvSpPr txBox="1"/>
          <p:nvPr/>
        </p:nvSpPr>
        <p:spPr>
          <a:xfrm>
            <a:off x="5852160" y="5065776"/>
            <a:ext cx="5577840" cy="411480"/>
          </a:xfrm>
          <a:prstGeom prst="rect">
            <a:avLst/>
          </a:prstGeom>
          <a:noFill/>
          <a:ln/>
        </p:spPr>
        <p:txBody>
          <a:bodyPr wrap="square" lIns="0" tIns="0" rIns="0" bIns="0" rtlCol="0" anchor="ctr"/>
          <a:lstStyle/>
          <a:p>
            <a:pPr indent="0" marL="0">
              <a:buNone/>
            </a:pPr>
            <a:r>
              <a:rPr lang="en-US" sz="1900" b="1" dirty="0">
                <a:solidFill>
                  <a:schemeClr val="tx2"/>
                </a:solidFill>
              </a:rPr>
              <a:t>Type the answer key</a:t>
            </a:r>
            <a:endParaRPr lang="en-US" sz="1900" dirty="0"/>
          </a:p>
        </p:txBody>
      </p:sp>
      <p:sp>
        <p:nvSpPr>
          <p:cNvPr id="22" name="Text 20"/>
          <p:cNvSpPr txBox="1"/>
          <p:nvPr/>
        </p:nvSpPr>
        <p:spPr>
          <a:xfrm>
            <a:off x="5852160" y="5449824"/>
            <a:ext cx="5577840" cy="347472"/>
          </a:xfrm>
          <a:prstGeom prst="rect">
            <a:avLst/>
          </a:prstGeom>
          <a:noFill/>
          <a:ln/>
        </p:spPr>
        <p:txBody>
          <a:bodyPr wrap="square" lIns="0" tIns="0" rIns="0" bIns="0" rtlCol="0" anchor="ctr"/>
          <a:lstStyle/>
          <a:p>
            <a:pPr indent="0" marL="0">
              <a:buNone/>
            </a:pPr>
            <a:r>
              <a:rPr lang="en-US" sz="1500" dirty="0">
                <a:solidFill>
                  <a:schemeClr val="accent6"/>
                </a:solidFill>
              </a:rPr>
              <a:t>Step-wise marking scheme for every question</a:t>
            </a:r>
            <a:endParaRPr lang="en-US" sz="1500" dirty="0"/>
          </a:p>
        </p:txBody>
      </p:sp>
      <p:sp>
        <p:nvSpPr>
          <p:cNvPr id="25" name="Slide Number Placeholder 0"/>
          <p:cNvSpPr>
            <a:spLocks noGrp="1"/>
          </p:cNvSpPr>
          <p:nvPr>
            <p:ph type="sldNum" sz="quarter" idx="4294967295"/>
          </p:nvPr>
        </p:nvSpPr>
        <p:spPr>
          <a:xfrm>
            <a:off x="11155680" y="6263640"/>
            <a:ext cx="457200" cy="347472"/>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868680"/>
          </a:xfrm>
          <a:prstGeom prst="rect">
            <a:avLst/>
          </a:prstGeom>
          <a:noFill/>
          <a:ln/>
        </p:spPr>
        <p:txBody>
          <a:bodyPr wrap="square" lIns="0" tIns="0" rIns="0" bIns="0" rtlCol="0" anchor="t"/>
          <a:lstStyle/>
          <a:p>
            <a:pPr indent="0" marL="0">
              <a:buNone/>
            </a:pPr>
            <a:r>
              <a:rPr lang="en-US" sz="3600" b="1" dirty="0">
                <a:solidFill>
                  <a:schemeClr val="tx2"/>
                </a:solidFill>
              </a:rPr>
              <a:t>Preboard Generator does the repetitive work</a:t>
            </a:r>
            <a:endParaRPr lang="en-US" sz="3600" dirty="0"/>
          </a:p>
        </p:txBody>
      </p:sp>
      <p:sp>
        <p:nvSpPr>
          <p:cNvPr id="3" name="Shape 1"/>
          <p:cNvSpPr/>
          <p:nvPr/>
        </p:nvSpPr>
        <p:spPr>
          <a:xfrm>
            <a:off x="548640" y="1554480"/>
            <a:ext cx="3520440" cy="3840480"/>
          </a:xfrm>
          <a:prstGeom prst="roundRect">
            <a:avLst>
              <a:gd name="adj" fmla="val 3117"/>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4" name="Text 2"/>
          <p:cNvSpPr txBox="1"/>
          <p:nvPr/>
        </p:nvSpPr>
        <p:spPr>
          <a:xfrm>
            <a:off x="868680" y="1874520"/>
            <a:ext cx="731520" cy="731520"/>
          </a:xfrm>
          <a:prstGeom prst="ellipse">
            <a:avLst/>
          </a:prstGeom>
          <a:solidFill>
            <a:schemeClr val="accent2"/>
          </a:solid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5" name="Text 3"/>
          <p:cNvSpPr txBox="1"/>
          <p:nvPr/>
        </p:nvSpPr>
        <p:spPr>
          <a:xfrm>
            <a:off x="868680" y="2788920"/>
            <a:ext cx="2926080" cy="50292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AI drafts</a:t>
            </a:r>
            <a:endParaRPr lang="en-US" sz="2400" dirty="0"/>
          </a:p>
        </p:txBody>
      </p:sp>
      <p:sp>
        <p:nvSpPr>
          <p:cNvPr id="6" name="Text 4"/>
          <p:cNvSpPr txBox="1"/>
          <p:nvPr/>
        </p:nvSpPr>
        <p:spPr>
          <a:xfrm>
            <a:off x="868680" y="3383280"/>
            <a:ext cx="2926080" cy="1828800"/>
          </a:xfrm>
          <a:prstGeom prst="rect">
            <a:avLst/>
          </a:prstGeom>
          <a:noFill/>
          <a:ln/>
        </p:spPr>
        <p:txBody>
          <a:bodyPr wrap="square" lIns="0" tIns="0" rIns="0" bIns="0" rtlCol="0" anchor="t"/>
          <a:lstStyle/>
          <a:p>
            <a:pPr indent="0" marL="0">
              <a:buNone/>
            </a:pPr>
            <a:r>
              <a:rPr lang="en-US" sz="1600" dirty="0">
                <a:solidFill>
                  <a:schemeClr val="tx2"/>
                </a:solidFill>
              </a:rPr>
              <a:t>Agents study the official CBSE 2026-27 sample paper and past board papers, then write new CBSE-style questions with answers and step-wise marking.</a:t>
            </a:r>
            <a:endParaRPr lang="en-US" sz="1600" dirty="0"/>
          </a:p>
        </p:txBody>
      </p:sp>
      <p:sp>
        <p:nvSpPr>
          <p:cNvPr id="7" name="Shape 5"/>
          <p:cNvSpPr/>
          <p:nvPr/>
        </p:nvSpPr>
        <p:spPr>
          <a:xfrm>
            <a:off x="4297680" y="1554480"/>
            <a:ext cx="3520440" cy="3840480"/>
          </a:xfrm>
          <a:prstGeom prst="roundRect">
            <a:avLst>
              <a:gd name="adj" fmla="val 3117"/>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8" name="Text 6"/>
          <p:cNvSpPr txBox="1"/>
          <p:nvPr/>
        </p:nvSpPr>
        <p:spPr>
          <a:xfrm>
            <a:off x="4617720" y="1874520"/>
            <a:ext cx="731520" cy="731520"/>
          </a:xfrm>
          <a:prstGeom prst="ellipse">
            <a:avLst/>
          </a:prstGeom>
          <a:solidFill>
            <a:schemeClr val="accent3"/>
          </a:solid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9" name="Text 7"/>
          <p:cNvSpPr txBox="1"/>
          <p:nvPr/>
        </p:nvSpPr>
        <p:spPr>
          <a:xfrm>
            <a:off x="4617720" y="2788920"/>
            <a:ext cx="2926080" cy="50292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The teacher decides</a:t>
            </a:r>
            <a:endParaRPr lang="en-US" sz="2400" dirty="0"/>
          </a:p>
        </p:txBody>
      </p:sp>
      <p:sp>
        <p:nvSpPr>
          <p:cNvPr id="10" name="Text 8"/>
          <p:cNvSpPr txBox="1"/>
          <p:nvPr/>
        </p:nvSpPr>
        <p:spPr>
          <a:xfrm>
            <a:off x="4617720" y="3383280"/>
            <a:ext cx="2926080" cy="1828800"/>
          </a:xfrm>
          <a:prstGeom prst="rect">
            <a:avLst/>
          </a:prstGeom>
          <a:noFill/>
          <a:ln/>
        </p:spPr>
        <p:txBody>
          <a:bodyPr wrap="square" lIns="0" tIns="0" rIns="0" bIns="0" rtlCol="0" anchor="t"/>
          <a:lstStyle/>
          <a:p>
            <a:pPr indent="0" marL="0">
              <a:buNone/>
            </a:pPr>
            <a:r>
              <a:rPr lang="en-US" sz="1600" dirty="0">
                <a:solidFill>
                  <a:schemeClr val="tx2"/>
                </a:solidFill>
              </a:rPr>
              <a:t>Every AI question waits for the teacher. Approve, edit or reject – nothing reaches a paper without approval.</a:t>
            </a:r>
            <a:endParaRPr lang="en-US" sz="1600" dirty="0"/>
          </a:p>
        </p:txBody>
      </p:sp>
      <p:sp>
        <p:nvSpPr>
          <p:cNvPr id="11" name="Shape 9"/>
          <p:cNvSpPr/>
          <p:nvPr/>
        </p:nvSpPr>
        <p:spPr>
          <a:xfrm>
            <a:off x="8046720" y="1554480"/>
            <a:ext cx="3520440" cy="3840480"/>
          </a:xfrm>
          <a:prstGeom prst="roundRect">
            <a:avLst>
              <a:gd name="adj" fmla="val 3117"/>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2" name="Text 10"/>
          <p:cNvSpPr txBox="1"/>
          <p:nvPr/>
        </p:nvSpPr>
        <p:spPr>
          <a:xfrm>
            <a:off x="8366760" y="1874520"/>
            <a:ext cx="731520" cy="731520"/>
          </a:xfrm>
          <a:prstGeom prst="ellipse">
            <a:avLst/>
          </a:prstGeom>
          <a:solidFill>
            <a:schemeClr val="accent5"/>
          </a:solid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3" name="Text 11"/>
          <p:cNvSpPr txBox="1"/>
          <p:nvPr/>
        </p:nvSpPr>
        <p:spPr>
          <a:xfrm>
            <a:off x="8366760" y="2788920"/>
            <a:ext cx="2926080" cy="50292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One click, full paper</a:t>
            </a:r>
            <a:endParaRPr lang="en-US" sz="2400" dirty="0"/>
          </a:p>
        </p:txBody>
      </p:sp>
      <p:sp>
        <p:nvSpPr>
          <p:cNvPr id="14" name="Text 12"/>
          <p:cNvSpPr txBox="1"/>
          <p:nvPr/>
        </p:nvSpPr>
        <p:spPr>
          <a:xfrm>
            <a:off x="8366760" y="3383280"/>
            <a:ext cx="2926080" cy="1828800"/>
          </a:xfrm>
          <a:prstGeom prst="rect">
            <a:avLst/>
          </a:prstGeom>
          <a:noFill/>
          <a:ln/>
        </p:spPr>
        <p:txBody>
          <a:bodyPr wrap="square" lIns="0" tIns="0" rIns="0" bIns="0" rtlCol="0" anchor="t"/>
          <a:lstStyle/>
          <a:p>
            <a:pPr indent="0" marL="0">
              <a:buNone/>
            </a:pPr>
            <a:r>
              <a:rPr lang="en-US" sz="1600" dirty="0">
                <a:solidFill>
                  <a:schemeClr val="tx2"/>
                </a:solidFill>
              </a:rPr>
              <a:t>16 questions, 30 marks, the right marks per chapter. Question paper and answer key PDFs, ready to print.</a:t>
            </a:r>
            <a:endParaRPr lang="en-US" sz="1600" dirty="0"/>
          </a:p>
        </p:txBody>
      </p:sp>
      <p:sp>
        <p:nvSpPr>
          <p:cNvPr id="15" name="Text 13"/>
          <p:cNvSpPr txBox="1"/>
          <p:nvPr/>
        </p:nvSpPr>
        <p:spPr>
          <a:xfrm>
            <a:off x="548640" y="5623560"/>
            <a:ext cx="11064240" cy="411480"/>
          </a:xfrm>
          <a:prstGeom prst="rect">
            <a:avLst/>
          </a:prstGeom>
          <a:noFill/>
          <a:ln/>
        </p:spPr>
        <p:txBody>
          <a:bodyPr wrap="square" lIns="0" tIns="0" rIns="0" bIns="0" rtlCol="0" anchor="ctr"/>
          <a:lstStyle/>
          <a:p>
            <a:pPr algn="ctr" indent="0" marL="0">
              <a:buNone/>
            </a:pPr>
            <a:r>
              <a:rPr lang="en-US" sz="1800" i="1" dirty="0">
                <a:solidFill>
                  <a:schemeClr val="accent5"/>
                </a:solidFill>
              </a:rPr>
              <a:t>Built by a CBSE teacher, for teachers.</a:t>
            </a:r>
            <a:endParaRPr lang="en-US" sz="1800" dirty="0"/>
          </a:p>
        </p:txBody>
      </p:sp>
      <p:sp>
        <p:nvSpPr>
          <p:cNvPr id="25" name="Slide Number Placeholder 0"/>
          <p:cNvSpPr>
            <a:spLocks noGrp="1"/>
          </p:cNvSpPr>
          <p:nvPr>
            <p:ph type="sldNum" sz="quarter" idx="4294967295"/>
          </p:nvPr>
        </p:nvSpPr>
        <p:spPr>
          <a:xfrm>
            <a:off x="11155680" y="6263640"/>
            <a:ext cx="457200" cy="347472"/>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868680"/>
          </a:xfrm>
          <a:prstGeom prst="rect">
            <a:avLst/>
          </a:prstGeom>
          <a:noFill/>
          <a:ln/>
        </p:spPr>
        <p:txBody>
          <a:bodyPr wrap="square" lIns="0" tIns="0" rIns="0" bIns="0" rtlCol="0" anchor="t"/>
          <a:lstStyle/>
          <a:p>
            <a:pPr indent="0" marL="0">
              <a:buNone/>
            </a:pPr>
            <a:r>
              <a:rPr lang="en-US" sz="3600" b="1" dirty="0">
                <a:solidFill>
                  <a:schemeClr val="tx2"/>
                </a:solidFill>
              </a:rPr>
              <a:t>How it works</a:t>
            </a:r>
            <a:endParaRPr lang="en-US" sz="3600" dirty="0"/>
          </a:p>
        </p:txBody>
      </p:sp>
      <p:pic>
        <p:nvPicPr>
          <p:cNvPr id="3" name="Image 0" descr="C:\Users\lavan\AppData\Local\Temp\claude\c--Users-lavan-Desktop-AI-Projects-preboard-generator-2310\c0b0e588-07af-4450-b94f-1570c39be517\scratchpad\deck\architecture.gif">    </p:cNvPr>
          <p:cNvPicPr>
            <a:picLocks noChangeAspect="1"/>
          </p:cNvPicPr>
          <p:nvPr/>
        </p:nvPicPr>
        <p:blipFill>
          <a:blip r:embed="rId1"/>
          <a:stretch>
            <a:fillRect/>
          </a:stretch>
        </p:blipFill>
        <p:spPr>
          <a:xfrm>
            <a:off x="1783080" y="1280160"/>
            <a:ext cx="8622792" cy="5020239"/>
          </a:xfrm>
          <a:prstGeom prst="rect">
            <a:avLst/>
          </a:prstGeom>
        </p:spPr>
      </p:pic>
      <p:sp>
        <p:nvSpPr>
          <p:cNvPr id="25" name="Slide Number Placeholder 0"/>
          <p:cNvSpPr>
            <a:spLocks noGrp="1"/>
          </p:cNvSpPr>
          <p:nvPr>
            <p:ph type="sldNum" sz="quarter" idx="4294967295"/>
          </p:nvPr>
        </p:nvSpPr>
        <p:spPr>
          <a:xfrm>
            <a:off x="11155680" y="6263640"/>
            <a:ext cx="457200" cy="347472"/>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868680"/>
          </a:xfrm>
          <a:prstGeom prst="rect">
            <a:avLst/>
          </a:prstGeom>
          <a:noFill/>
          <a:ln/>
        </p:spPr>
        <p:txBody>
          <a:bodyPr wrap="square" lIns="0" tIns="0" rIns="0" bIns="0" rtlCol="0" anchor="t"/>
          <a:lstStyle/>
          <a:p>
            <a:pPr indent="0" marL="0">
              <a:buNone/>
            </a:pPr>
            <a:r>
              <a:rPr lang="en-US" sz="3600" b="1" dirty="0">
                <a:solidFill>
                  <a:schemeClr val="tx2"/>
                </a:solidFill>
              </a:rPr>
              <a:t>The teacher stays in control</a:t>
            </a:r>
            <a:endParaRPr lang="en-US" sz="3600" dirty="0"/>
          </a:p>
        </p:txBody>
      </p:sp>
      <p:sp>
        <p:nvSpPr>
          <p:cNvPr id="3" name="Shape 1"/>
          <p:cNvSpPr/>
          <p:nvPr/>
        </p:nvSpPr>
        <p:spPr>
          <a:xfrm>
            <a:off x="548640" y="1554480"/>
            <a:ext cx="3291840" cy="1737360"/>
          </a:xfrm>
          <a:prstGeom prst="roundRect">
            <a:avLst>
              <a:gd name="adj" fmla="val 6316"/>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4" name="Shape 2"/>
          <p:cNvSpPr/>
          <p:nvPr/>
        </p:nvSpPr>
        <p:spPr>
          <a:xfrm>
            <a:off x="822960" y="1810512"/>
            <a:ext cx="310896" cy="310896"/>
          </a:xfrm>
          <a:prstGeom prst="ellipse">
            <a:avLst/>
          </a:prstGeom>
          <a:solidFill>
            <a:schemeClr val="accent2"/>
          </a:solidFill>
          <a:ln/>
        </p:spPr>
      </p:sp>
      <p:sp>
        <p:nvSpPr>
          <p:cNvPr id="5" name="Text 3"/>
          <p:cNvSpPr txBox="1"/>
          <p:nvPr/>
        </p:nvSpPr>
        <p:spPr>
          <a:xfrm>
            <a:off x="1280160" y="1737360"/>
            <a:ext cx="2423160" cy="457200"/>
          </a:xfrm>
          <a:prstGeom prst="rect">
            <a:avLst/>
          </a:prstGeom>
          <a:noFill/>
          <a:ln/>
        </p:spPr>
        <p:txBody>
          <a:bodyPr wrap="square" lIns="0" tIns="0" rIns="0" bIns="0" rtlCol="0" anchor="ctr"/>
          <a:lstStyle/>
          <a:p>
            <a:pPr indent="0" marL="0">
              <a:buNone/>
            </a:pPr>
            <a:r>
              <a:rPr lang="en-US" sz="1900" b="1" dirty="0">
                <a:solidFill>
                  <a:schemeClr val="tx2"/>
                </a:solidFill>
              </a:rPr>
              <a:t>AI writes a question</a:t>
            </a:r>
            <a:endParaRPr lang="en-US" sz="1900" dirty="0"/>
          </a:p>
        </p:txBody>
      </p:sp>
      <p:sp>
        <p:nvSpPr>
          <p:cNvPr id="6" name="Text 4"/>
          <p:cNvSpPr txBox="1"/>
          <p:nvPr/>
        </p:nvSpPr>
        <p:spPr>
          <a:xfrm>
            <a:off x="822960" y="2331720"/>
            <a:ext cx="2834640" cy="777240"/>
          </a:xfrm>
          <a:prstGeom prst="rect">
            <a:avLst/>
          </a:prstGeom>
          <a:noFill/>
          <a:ln/>
        </p:spPr>
        <p:txBody>
          <a:bodyPr wrap="square" lIns="0" tIns="0" rIns="0" bIns="0" rtlCol="0" anchor="t"/>
          <a:lstStyle/>
          <a:p>
            <a:pPr indent="0" marL="0">
              <a:buNone/>
            </a:pPr>
            <a:r>
              <a:rPr lang="en-US" sz="1600" dirty="0">
                <a:solidFill>
                  <a:schemeClr val="accent6"/>
                </a:solidFill>
              </a:rPr>
              <a:t>Saved as Pending – never used yet</a:t>
            </a:r>
            <a:endParaRPr lang="en-US" sz="1600" dirty="0"/>
          </a:p>
        </p:txBody>
      </p:sp>
      <p:sp>
        <p:nvSpPr>
          <p:cNvPr id="7" name="Shape 5"/>
          <p:cNvSpPr/>
          <p:nvPr/>
        </p:nvSpPr>
        <p:spPr>
          <a:xfrm>
            <a:off x="3913632" y="2258568"/>
            <a:ext cx="402336" cy="329184"/>
          </a:xfrm>
          <a:prstGeom prst="rightArrow">
            <a:avLst/>
          </a:prstGeom>
          <a:solidFill>
            <a:schemeClr val="accent6"/>
          </a:solidFill>
          <a:ln/>
        </p:spPr>
      </p:sp>
      <p:sp>
        <p:nvSpPr>
          <p:cNvPr id="8" name="Shape 6"/>
          <p:cNvSpPr/>
          <p:nvPr/>
        </p:nvSpPr>
        <p:spPr>
          <a:xfrm>
            <a:off x="4389120" y="1554480"/>
            <a:ext cx="3291840" cy="1737360"/>
          </a:xfrm>
          <a:prstGeom prst="roundRect">
            <a:avLst>
              <a:gd name="adj" fmla="val 6316"/>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9" name="Shape 7"/>
          <p:cNvSpPr/>
          <p:nvPr/>
        </p:nvSpPr>
        <p:spPr>
          <a:xfrm>
            <a:off x="4663440" y="1810512"/>
            <a:ext cx="310896" cy="310896"/>
          </a:xfrm>
          <a:prstGeom prst="ellipse">
            <a:avLst/>
          </a:prstGeom>
          <a:solidFill>
            <a:schemeClr val="accent3"/>
          </a:solidFill>
          <a:ln/>
        </p:spPr>
      </p:sp>
      <p:sp>
        <p:nvSpPr>
          <p:cNvPr id="10" name="Text 8"/>
          <p:cNvSpPr txBox="1"/>
          <p:nvPr/>
        </p:nvSpPr>
        <p:spPr>
          <a:xfrm>
            <a:off x="5120640" y="1737360"/>
            <a:ext cx="2423160" cy="457200"/>
          </a:xfrm>
          <a:prstGeom prst="rect">
            <a:avLst/>
          </a:prstGeom>
          <a:noFill/>
          <a:ln/>
        </p:spPr>
        <p:txBody>
          <a:bodyPr wrap="square" lIns="0" tIns="0" rIns="0" bIns="0" rtlCol="0" anchor="ctr"/>
          <a:lstStyle/>
          <a:p>
            <a:pPr indent="0" marL="0">
              <a:buNone/>
            </a:pPr>
            <a:r>
              <a:rPr lang="en-US" sz="1900" b="1" dirty="0">
                <a:solidFill>
                  <a:schemeClr val="tx2"/>
                </a:solidFill>
              </a:rPr>
              <a:t>Teacher reviews it</a:t>
            </a:r>
            <a:endParaRPr lang="en-US" sz="1900" dirty="0"/>
          </a:p>
        </p:txBody>
      </p:sp>
      <p:sp>
        <p:nvSpPr>
          <p:cNvPr id="11" name="Text 9"/>
          <p:cNvSpPr txBox="1"/>
          <p:nvPr/>
        </p:nvSpPr>
        <p:spPr>
          <a:xfrm>
            <a:off x="4663440" y="2331720"/>
            <a:ext cx="2834640" cy="777240"/>
          </a:xfrm>
          <a:prstGeom prst="rect">
            <a:avLst/>
          </a:prstGeom>
          <a:noFill/>
          <a:ln/>
        </p:spPr>
        <p:txBody>
          <a:bodyPr wrap="square" lIns="0" tIns="0" rIns="0" bIns="0" rtlCol="0" anchor="t"/>
          <a:lstStyle/>
          <a:p>
            <a:pPr indent="0" marL="0">
              <a:buNone/>
            </a:pPr>
            <a:r>
              <a:rPr lang="en-US" sz="1600" dirty="0">
                <a:solidFill>
                  <a:schemeClr val="accent6"/>
                </a:solidFill>
              </a:rPr>
              <a:t>Approve · Edit · Reject in one click</a:t>
            </a:r>
            <a:endParaRPr lang="en-US" sz="1600" dirty="0"/>
          </a:p>
        </p:txBody>
      </p:sp>
      <p:sp>
        <p:nvSpPr>
          <p:cNvPr id="12" name="Shape 10"/>
          <p:cNvSpPr/>
          <p:nvPr/>
        </p:nvSpPr>
        <p:spPr>
          <a:xfrm>
            <a:off x="7754112" y="2258568"/>
            <a:ext cx="402336" cy="329184"/>
          </a:xfrm>
          <a:prstGeom prst="rightArrow">
            <a:avLst/>
          </a:prstGeom>
          <a:solidFill>
            <a:schemeClr val="accent6"/>
          </a:solidFill>
          <a:ln/>
        </p:spPr>
      </p:sp>
      <p:sp>
        <p:nvSpPr>
          <p:cNvPr id="13" name="Shape 11"/>
          <p:cNvSpPr/>
          <p:nvPr/>
        </p:nvSpPr>
        <p:spPr>
          <a:xfrm>
            <a:off x="8229600" y="1554480"/>
            <a:ext cx="3291840" cy="1737360"/>
          </a:xfrm>
          <a:prstGeom prst="roundRect">
            <a:avLst>
              <a:gd name="adj" fmla="val 6316"/>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4" name="Shape 12"/>
          <p:cNvSpPr/>
          <p:nvPr/>
        </p:nvSpPr>
        <p:spPr>
          <a:xfrm>
            <a:off x="8503920" y="1810512"/>
            <a:ext cx="310896" cy="310896"/>
          </a:xfrm>
          <a:prstGeom prst="ellipse">
            <a:avLst/>
          </a:prstGeom>
          <a:solidFill>
            <a:schemeClr val="accent4"/>
          </a:solidFill>
          <a:ln/>
        </p:spPr>
      </p:sp>
      <p:sp>
        <p:nvSpPr>
          <p:cNvPr id="15" name="Text 13"/>
          <p:cNvSpPr txBox="1"/>
          <p:nvPr/>
        </p:nvSpPr>
        <p:spPr>
          <a:xfrm>
            <a:off x="8961120" y="1737360"/>
            <a:ext cx="2423160" cy="457200"/>
          </a:xfrm>
          <a:prstGeom prst="rect">
            <a:avLst/>
          </a:prstGeom>
          <a:noFill/>
          <a:ln/>
        </p:spPr>
        <p:txBody>
          <a:bodyPr wrap="square" lIns="0" tIns="0" rIns="0" bIns="0" rtlCol="0" anchor="ctr"/>
          <a:lstStyle/>
          <a:p>
            <a:pPr indent="0" marL="0">
              <a:buNone/>
            </a:pPr>
            <a:r>
              <a:rPr lang="en-US" sz="1900" b="1" dirty="0">
                <a:solidFill>
                  <a:schemeClr val="tx2"/>
                </a:solidFill>
              </a:rPr>
              <a:t>Only approved questions</a:t>
            </a:r>
            <a:endParaRPr lang="en-US" sz="1900" dirty="0"/>
          </a:p>
        </p:txBody>
      </p:sp>
      <p:sp>
        <p:nvSpPr>
          <p:cNvPr id="16" name="Text 14"/>
          <p:cNvSpPr txBox="1"/>
          <p:nvPr/>
        </p:nvSpPr>
        <p:spPr>
          <a:xfrm>
            <a:off x="8503920" y="2331720"/>
            <a:ext cx="2834640" cy="777240"/>
          </a:xfrm>
          <a:prstGeom prst="rect">
            <a:avLst/>
          </a:prstGeom>
          <a:noFill/>
          <a:ln/>
        </p:spPr>
        <p:txBody>
          <a:bodyPr wrap="square" lIns="0" tIns="0" rIns="0" bIns="0" rtlCol="0" anchor="t"/>
          <a:lstStyle/>
          <a:p>
            <a:pPr indent="0" marL="0">
              <a:buNone/>
            </a:pPr>
            <a:r>
              <a:rPr lang="en-US" sz="1600" dirty="0">
                <a:solidFill>
                  <a:schemeClr val="accent6"/>
                </a:solidFill>
              </a:rPr>
              <a:t>can ever appear in a paper</a:t>
            </a:r>
            <a:endParaRPr lang="en-US" sz="1600" dirty="0"/>
          </a:p>
        </p:txBody>
      </p:sp>
      <p:sp>
        <p:nvSpPr>
          <p:cNvPr id="17" name="Text 15"/>
          <p:cNvSpPr txBox="1"/>
          <p:nvPr/>
        </p:nvSpPr>
        <p:spPr>
          <a:xfrm>
            <a:off x="548640" y="3611880"/>
            <a:ext cx="1106424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Built-in checks before anything is saved</a:t>
            </a:r>
            <a:endParaRPr lang="en-US" sz="2200" dirty="0"/>
          </a:p>
        </p:txBody>
      </p:sp>
      <p:sp>
        <p:nvSpPr>
          <p:cNvPr id="18" name="Shape 16"/>
          <p:cNvSpPr/>
          <p:nvPr/>
        </p:nvSpPr>
        <p:spPr>
          <a:xfrm>
            <a:off x="548640" y="4206240"/>
            <a:ext cx="5440680" cy="713232"/>
          </a:xfrm>
          <a:prstGeom prst="roundRect">
            <a:avLst>
              <a:gd name="adj" fmla="val 15385"/>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9" name="Text 17"/>
          <p:cNvSpPr txBox="1"/>
          <p:nvPr/>
        </p:nvSpPr>
        <p:spPr>
          <a:xfrm>
            <a:off x="749808" y="4334256"/>
            <a:ext cx="457200" cy="457200"/>
          </a:xfrm>
          <a:prstGeom prst="rect">
            <a:avLst/>
          </a:prstGeom>
          <a:noFill/>
          <a:ln/>
        </p:spPr>
        <p:txBody>
          <a:bodyPr wrap="square" lIns="0" tIns="0" rIns="0" bIns="0" rtlCol="0" anchor="ctr"/>
          <a:lstStyle/>
          <a:p>
            <a:pPr indent="0" marL="0">
              <a:buNone/>
            </a:pPr>
            <a:r>
              <a:rPr lang="en-US" sz="2200" b="1" dirty="0">
                <a:solidFill>
                  <a:schemeClr val="accent4"/>
                </a:solidFill>
              </a:rPr>
              <a:t>✓</a:t>
            </a:r>
            <a:endParaRPr lang="en-US" sz="2200" dirty="0"/>
          </a:p>
        </p:txBody>
      </p:sp>
      <p:sp>
        <p:nvSpPr>
          <p:cNvPr id="20" name="Text 18"/>
          <p:cNvSpPr txBox="1"/>
          <p:nvPr/>
        </p:nvSpPr>
        <p:spPr>
          <a:xfrm>
            <a:off x="1234440" y="4334256"/>
            <a:ext cx="4572000" cy="457200"/>
          </a:xfrm>
          <a:prstGeom prst="rect">
            <a:avLst/>
          </a:prstGeom>
          <a:noFill/>
          <a:ln/>
        </p:spPr>
        <p:txBody>
          <a:bodyPr wrap="square" lIns="0" tIns="0" rIns="0" bIns="0" rtlCol="0" anchor="ctr"/>
          <a:lstStyle/>
          <a:p>
            <a:pPr indent="0" marL="0">
              <a:buNone/>
            </a:pPr>
            <a:r>
              <a:rPr lang="en-US" sz="1700" dirty="0">
                <a:solidFill>
                  <a:schemeClr val="tx2"/>
                </a:solidFill>
              </a:rPr>
              <a:t>Correct marks for each question type</a:t>
            </a:r>
            <a:endParaRPr lang="en-US" sz="1700" dirty="0"/>
          </a:p>
        </p:txBody>
      </p:sp>
      <p:sp>
        <p:nvSpPr>
          <p:cNvPr id="21" name="Shape 19"/>
          <p:cNvSpPr/>
          <p:nvPr/>
        </p:nvSpPr>
        <p:spPr>
          <a:xfrm>
            <a:off x="6172200" y="4206240"/>
            <a:ext cx="5440680" cy="713232"/>
          </a:xfrm>
          <a:prstGeom prst="roundRect">
            <a:avLst>
              <a:gd name="adj" fmla="val 15385"/>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22" name="Text 20"/>
          <p:cNvSpPr txBox="1"/>
          <p:nvPr/>
        </p:nvSpPr>
        <p:spPr>
          <a:xfrm>
            <a:off x="6373368" y="4334256"/>
            <a:ext cx="457200" cy="457200"/>
          </a:xfrm>
          <a:prstGeom prst="rect">
            <a:avLst/>
          </a:prstGeom>
          <a:noFill/>
          <a:ln/>
        </p:spPr>
        <p:txBody>
          <a:bodyPr wrap="square" lIns="0" tIns="0" rIns="0" bIns="0" rtlCol="0" anchor="ctr"/>
          <a:lstStyle/>
          <a:p>
            <a:pPr indent="0" marL="0">
              <a:buNone/>
            </a:pPr>
            <a:r>
              <a:rPr lang="en-US" sz="2200" b="1" dirty="0">
                <a:solidFill>
                  <a:schemeClr val="accent4"/>
                </a:solidFill>
              </a:rPr>
              <a:t>✓</a:t>
            </a:r>
            <a:endParaRPr lang="en-US" sz="2200" dirty="0"/>
          </a:p>
        </p:txBody>
      </p:sp>
      <p:sp>
        <p:nvSpPr>
          <p:cNvPr id="23" name="Text 21"/>
          <p:cNvSpPr txBox="1"/>
          <p:nvPr/>
        </p:nvSpPr>
        <p:spPr>
          <a:xfrm>
            <a:off x="6858000" y="4334256"/>
            <a:ext cx="4572000" cy="457200"/>
          </a:xfrm>
          <a:prstGeom prst="rect">
            <a:avLst/>
          </a:prstGeom>
          <a:noFill/>
          <a:ln/>
        </p:spPr>
        <p:txBody>
          <a:bodyPr wrap="square" lIns="0" tIns="0" rIns="0" bIns="0" rtlCol="0" anchor="ctr"/>
          <a:lstStyle/>
          <a:p>
            <a:pPr indent="0" marL="0">
              <a:buNone/>
            </a:pPr>
            <a:r>
              <a:rPr lang="en-US" sz="1700" dirty="0">
                <a:solidFill>
                  <a:schemeClr val="tx2"/>
                </a:solidFill>
              </a:rPr>
              <a:t>MCQ answer must be one of the options</a:t>
            </a:r>
            <a:endParaRPr lang="en-US" sz="1700" dirty="0"/>
          </a:p>
        </p:txBody>
      </p:sp>
      <p:sp>
        <p:nvSpPr>
          <p:cNvPr id="24" name="Shape 22"/>
          <p:cNvSpPr/>
          <p:nvPr/>
        </p:nvSpPr>
        <p:spPr>
          <a:xfrm>
            <a:off x="548640" y="5074920"/>
            <a:ext cx="5440680" cy="713232"/>
          </a:xfrm>
          <a:prstGeom prst="roundRect">
            <a:avLst>
              <a:gd name="adj" fmla="val 15385"/>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25" name="Text 23"/>
          <p:cNvSpPr txBox="1"/>
          <p:nvPr/>
        </p:nvSpPr>
        <p:spPr>
          <a:xfrm>
            <a:off x="749808" y="5202936"/>
            <a:ext cx="457200" cy="457200"/>
          </a:xfrm>
          <a:prstGeom prst="rect">
            <a:avLst/>
          </a:prstGeom>
          <a:noFill/>
          <a:ln/>
        </p:spPr>
        <p:txBody>
          <a:bodyPr wrap="square" lIns="0" tIns="0" rIns="0" bIns="0" rtlCol="0" anchor="ctr"/>
          <a:lstStyle/>
          <a:p>
            <a:pPr indent="0" marL="0">
              <a:buNone/>
            </a:pPr>
            <a:r>
              <a:rPr lang="en-US" sz="2200" b="1" dirty="0">
                <a:solidFill>
                  <a:schemeClr val="accent4"/>
                </a:solidFill>
              </a:rPr>
              <a:t>✓</a:t>
            </a:r>
            <a:endParaRPr lang="en-US" sz="2200" dirty="0"/>
          </a:p>
        </p:txBody>
      </p:sp>
      <p:sp>
        <p:nvSpPr>
          <p:cNvPr id="26" name="Text 24"/>
          <p:cNvSpPr txBox="1"/>
          <p:nvPr/>
        </p:nvSpPr>
        <p:spPr>
          <a:xfrm>
            <a:off x="1234440" y="5202936"/>
            <a:ext cx="4572000" cy="457200"/>
          </a:xfrm>
          <a:prstGeom prst="rect">
            <a:avLst/>
          </a:prstGeom>
          <a:noFill/>
          <a:ln/>
        </p:spPr>
        <p:txBody>
          <a:bodyPr wrap="square" lIns="0" tIns="0" rIns="0" bIns="0" rtlCol="0" anchor="ctr"/>
          <a:lstStyle/>
          <a:p>
            <a:pPr indent="0" marL="0">
              <a:buNone/>
            </a:pPr>
            <a:r>
              <a:rPr lang="en-US" sz="1700" dirty="0">
                <a:solidFill>
                  <a:schemeClr val="tx2"/>
                </a:solidFill>
              </a:rPr>
              <a:t>Near-duplicate questions are blocked</a:t>
            </a:r>
            <a:endParaRPr lang="en-US" sz="1700" dirty="0"/>
          </a:p>
        </p:txBody>
      </p:sp>
      <p:sp>
        <p:nvSpPr>
          <p:cNvPr id="27" name="Shape 25"/>
          <p:cNvSpPr/>
          <p:nvPr/>
        </p:nvSpPr>
        <p:spPr>
          <a:xfrm>
            <a:off x="6172200" y="5074920"/>
            <a:ext cx="5440680" cy="713232"/>
          </a:xfrm>
          <a:prstGeom prst="roundRect">
            <a:avLst>
              <a:gd name="adj" fmla="val 15385"/>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28" name="Text 26"/>
          <p:cNvSpPr txBox="1"/>
          <p:nvPr/>
        </p:nvSpPr>
        <p:spPr>
          <a:xfrm>
            <a:off x="6373368" y="5202936"/>
            <a:ext cx="457200" cy="457200"/>
          </a:xfrm>
          <a:prstGeom prst="rect">
            <a:avLst/>
          </a:prstGeom>
          <a:noFill/>
          <a:ln/>
        </p:spPr>
        <p:txBody>
          <a:bodyPr wrap="square" lIns="0" tIns="0" rIns="0" bIns="0" rtlCol="0" anchor="ctr"/>
          <a:lstStyle/>
          <a:p>
            <a:pPr indent="0" marL="0">
              <a:buNone/>
            </a:pPr>
            <a:r>
              <a:rPr lang="en-US" sz="2200" b="1" dirty="0">
                <a:solidFill>
                  <a:schemeClr val="accent4"/>
                </a:solidFill>
              </a:rPr>
              <a:t>✓</a:t>
            </a:r>
            <a:endParaRPr lang="en-US" sz="2200" dirty="0"/>
          </a:p>
        </p:txBody>
      </p:sp>
      <p:sp>
        <p:nvSpPr>
          <p:cNvPr id="29" name="Text 27"/>
          <p:cNvSpPr txBox="1"/>
          <p:nvPr/>
        </p:nvSpPr>
        <p:spPr>
          <a:xfrm>
            <a:off x="6858000" y="5202936"/>
            <a:ext cx="4572000" cy="457200"/>
          </a:xfrm>
          <a:prstGeom prst="rect">
            <a:avLst/>
          </a:prstGeom>
          <a:noFill/>
          <a:ln/>
        </p:spPr>
        <p:txBody>
          <a:bodyPr wrap="square" lIns="0" tIns="0" rIns="0" bIns="0" rtlCol="0" anchor="ctr"/>
          <a:lstStyle/>
          <a:p>
            <a:pPr indent="0" marL="0">
              <a:buNone/>
            </a:pPr>
            <a:r>
              <a:rPr lang="en-US" sz="1700" dirty="0">
                <a:solidFill>
                  <a:schemeClr val="tx2"/>
                </a:solidFill>
              </a:rPr>
              <a:t>Official CBSE and NCERT sources only</a:t>
            </a:r>
            <a:endParaRPr lang="en-US" sz="1700" dirty="0"/>
          </a:p>
        </p:txBody>
      </p:sp>
      <p:sp>
        <p:nvSpPr>
          <p:cNvPr id="25" name="Slide Number Placeholder 0"/>
          <p:cNvSpPr>
            <a:spLocks noGrp="1"/>
          </p:cNvSpPr>
          <p:nvPr>
            <p:ph type="sldNum" sz="quarter" idx="4294967295"/>
          </p:nvPr>
        </p:nvSpPr>
        <p:spPr>
          <a:xfrm>
            <a:off x="11155680" y="6263640"/>
            <a:ext cx="457200" cy="347472"/>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868680"/>
          </a:xfrm>
          <a:prstGeom prst="rect">
            <a:avLst/>
          </a:prstGeom>
          <a:noFill/>
          <a:ln/>
        </p:spPr>
        <p:txBody>
          <a:bodyPr wrap="square" lIns="0" tIns="0" rIns="0" bIns="0" rtlCol="0" anchor="t"/>
          <a:lstStyle/>
          <a:p>
            <a:pPr indent="0" marL="0">
              <a:buNone/>
            </a:pPr>
            <a:r>
              <a:rPr lang="en-US" sz="3600" b="1" dirty="0">
                <a:solidFill>
                  <a:schemeClr val="tx2"/>
                </a:solidFill>
              </a:rPr>
              <a:t>What the teacher gets</a:t>
            </a:r>
            <a:endParaRPr lang="en-US" sz="3600" dirty="0"/>
          </a:p>
        </p:txBody>
      </p:sp>
      <p:sp>
        <p:nvSpPr>
          <p:cNvPr id="3" name="Shape 1"/>
          <p:cNvSpPr/>
          <p:nvPr/>
        </p:nvSpPr>
        <p:spPr>
          <a:xfrm>
            <a:off x="548640" y="1508760"/>
            <a:ext cx="6812280" cy="3886200"/>
          </a:xfrm>
          <a:prstGeom prst="roundRect">
            <a:avLst>
              <a:gd name="adj" fmla="val 2824"/>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pic>
        <p:nvPicPr>
          <p:cNvPr id="4" name="Image 0" descr="C:\Users\lavan\AppData\Local\Temp\claude\c--Users-lavan-Desktop-AI-Projects-preboard-generator-2310\c0b0e588-07af-4450-b94f-1570c39be517\scratchpad\deck\question-paper.png">    </p:cNvPr>
          <p:cNvPicPr>
            <a:picLocks noChangeAspect="1"/>
          </p:cNvPicPr>
          <p:nvPr/>
        </p:nvPicPr>
        <p:blipFill>
          <a:blip r:embed="rId1"/>
          <a:srcRect l="0" r="0" t="0" b="0"/>
          <a:stretch/>
        </p:blipFill>
        <p:spPr>
          <a:xfrm>
            <a:off x="685800" y="1645920"/>
            <a:ext cx="6537960" cy="3611880"/>
          </a:xfrm>
          <a:prstGeom prst="rect">
            <a:avLst/>
          </a:prstGeom>
        </p:spPr>
      </p:pic>
      <p:sp>
        <p:nvSpPr>
          <p:cNvPr id="5" name="Text 2"/>
          <p:cNvSpPr txBox="1"/>
          <p:nvPr/>
        </p:nvSpPr>
        <p:spPr>
          <a:xfrm>
            <a:off x="548640" y="5486400"/>
            <a:ext cx="6812280" cy="411480"/>
          </a:xfrm>
          <a:prstGeom prst="rect">
            <a:avLst/>
          </a:prstGeom>
          <a:noFill/>
          <a:ln/>
        </p:spPr>
        <p:txBody>
          <a:bodyPr wrap="square" lIns="0" tIns="0" rIns="0" bIns="0" rtlCol="0" anchor="ctr"/>
          <a:lstStyle/>
          <a:p>
            <a:pPr indent="0" marL="0">
              <a:buNone/>
            </a:pPr>
            <a:r>
              <a:rPr lang="en-US" sz="1300" i="1" dirty="0">
                <a:solidFill>
                  <a:schemeClr val="accent6"/>
                </a:solidFill>
              </a:rPr>
              <a:t>A generated paper in the app – the school's name on top, sections A to E.</a:t>
            </a:r>
            <a:endParaRPr lang="en-US" sz="1300" dirty="0"/>
          </a:p>
        </p:txBody>
      </p:sp>
      <p:sp>
        <p:nvSpPr>
          <p:cNvPr id="6" name="Shape 3"/>
          <p:cNvSpPr/>
          <p:nvPr/>
        </p:nvSpPr>
        <p:spPr>
          <a:xfrm>
            <a:off x="7635240" y="1508760"/>
            <a:ext cx="3977640" cy="868680"/>
          </a:xfrm>
          <a:prstGeom prst="roundRect">
            <a:avLst>
              <a:gd name="adj" fmla="val 12632"/>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7" name="Text 4"/>
          <p:cNvSpPr txBox="1"/>
          <p:nvPr/>
        </p:nvSpPr>
        <p:spPr>
          <a:xfrm>
            <a:off x="7863840" y="1600200"/>
            <a:ext cx="3611880" cy="384048"/>
          </a:xfrm>
          <a:prstGeom prst="rect">
            <a:avLst/>
          </a:prstGeom>
          <a:noFill/>
          <a:ln/>
        </p:spPr>
        <p:txBody>
          <a:bodyPr wrap="square" lIns="0" tIns="0" rIns="0" bIns="0" rtlCol="0" anchor="ctr"/>
          <a:lstStyle/>
          <a:p>
            <a:pPr indent="0" marL="0">
              <a:buNone/>
            </a:pPr>
            <a:r>
              <a:rPr lang="en-US" sz="1800" b="1" dirty="0">
                <a:solidFill>
                  <a:schemeClr val="tx2"/>
                </a:solidFill>
              </a:rPr>
              <a:t>Question paper PDF</a:t>
            </a:r>
            <a:endParaRPr lang="en-US" sz="1800" dirty="0"/>
          </a:p>
        </p:txBody>
      </p:sp>
      <p:sp>
        <p:nvSpPr>
          <p:cNvPr id="8" name="Text 5"/>
          <p:cNvSpPr txBox="1"/>
          <p:nvPr/>
        </p:nvSpPr>
        <p:spPr>
          <a:xfrm>
            <a:off x="7863840" y="1965960"/>
            <a:ext cx="3611880" cy="329184"/>
          </a:xfrm>
          <a:prstGeom prst="rect">
            <a:avLst/>
          </a:prstGeom>
          <a:noFill/>
          <a:ln/>
        </p:spPr>
        <p:txBody>
          <a:bodyPr wrap="square" lIns="0" tIns="0" rIns="0" bIns="0" rtlCol="0" anchor="ctr"/>
          <a:lstStyle/>
          <a:p>
            <a:pPr indent="0" marL="0">
              <a:buNone/>
            </a:pPr>
            <a:r>
              <a:rPr lang="en-US" sz="1400" dirty="0">
                <a:solidFill>
                  <a:schemeClr val="accent6"/>
                </a:solidFill>
              </a:rPr>
              <a:t>School header, ready to print</a:t>
            </a:r>
            <a:endParaRPr lang="en-US" sz="1400" dirty="0"/>
          </a:p>
        </p:txBody>
      </p:sp>
      <p:sp>
        <p:nvSpPr>
          <p:cNvPr id="9" name="Shape 6"/>
          <p:cNvSpPr/>
          <p:nvPr/>
        </p:nvSpPr>
        <p:spPr>
          <a:xfrm>
            <a:off x="7635240" y="2514600"/>
            <a:ext cx="3977640" cy="868680"/>
          </a:xfrm>
          <a:prstGeom prst="roundRect">
            <a:avLst>
              <a:gd name="adj" fmla="val 12632"/>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0" name="Text 7"/>
          <p:cNvSpPr txBox="1"/>
          <p:nvPr/>
        </p:nvSpPr>
        <p:spPr>
          <a:xfrm>
            <a:off x="7863840" y="2606040"/>
            <a:ext cx="3611880" cy="384048"/>
          </a:xfrm>
          <a:prstGeom prst="rect">
            <a:avLst/>
          </a:prstGeom>
          <a:noFill/>
          <a:ln/>
        </p:spPr>
        <p:txBody>
          <a:bodyPr wrap="square" lIns="0" tIns="0" rIns="0" bIns="0" rtlCol="0" anchor="ctr"/>
          <a:lstStyle/>
          <a:p>
            <a:pPr indent="0" marL="0">
              <a:buNone/>
            </a:pPr>
            <a:r>
              <a:rPr lang="en-US" sz="1800" b="1" dirty="0">
                <a:solidFill>
                  <a:schemeClr val="tx2"/>
                </a:solidFill>
              </a:rPr>
              <a:t>Answer key PDF</a:t>
            </a:r>
            <a:endParaRPr lang="en-US" sz="1800" dirty="0"/>
          </a:p>
        </p:txBody>
      </p:sp>
      <p:sp>
        <p:nvSpPr>
          <p:cNvPr id="11" name="Text 8"/>
          <p:cNvSpPr txBox="1"/>
          <p:nvPr/>
        </p:nvSpPr>
        <p:spPr>
          <a:xfrm>
            <a:off x="7863840" y="2971800"/>
            <a:ext cx="3611880" cy="329184"/>
          </a:xfrm>
          <a:prstGeom prst="rect">
            <a:avLst/>
          </a:prstGeom>
          <a:noFill/>
          <a:ln/>
        </p:spPr>
        <p:txBody>
          <a:bodyPr wrap="square" lIns="0" tIns="0" rIns="0" bIns="0" rtlCol="0" anchor="ctr"/>
          <a:lstStyle/>
          <a:p>
            <a:pPr indent="0" marL="0">
              <a:buNone/>
            </a:pPr>
            <a:r>
              <a:rPr lang="en-US" sz="1400" dirty="0">
                <a:solidFill>
                  <a:schemeClr val="accent6"/>
                </a:solidFill>
              </a:rPr>
              <a:t>Step-wise marking scheme</a:t>
            </a:r>
            <a:endParaRPr lang="en-US" sz="1400" dirty="0"/>
          </a:p>
        </p:txBody>
      </p:sp>
      <p:sp>
        <p:nvSpPr>
          <p:cNvPr id="12" name="Shape 9"/>
          <p:cNvSpPr/>
          <p:nvPr/>
        </p:nvSpPr>
        <p:spPr>
          <a:xfrm>
            <a:off x="7635240" y="3520440"/>
            <a:ext cx="3977640" cy="868680"/>
          </a:xfrm>
          <a:prstGeom prst="roundRect">
            <a:avLst>
              <a:gd name="adj" fmla="val 12632"/>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3" name="Text 10"/>
          <p:cNvSpPr txBox="1"/>
          <p:nvPr/>
        </p:nvSpPr>
        <p:spPr>
          <a:xfrm>
            <a:off x="7863840" y="3611880"/>
            <a:ext cx="3611880" cy="384048"/>
          </a:xfrm>
          <a:prstGeom prst="rect">
            <a:avLst/>
          </a:prstGeom>
          <a:noFill/>
          <a:ln/>
        </p:spPr>
        <p:txBody>
          <a:bodyPr wrap="square" lIns="0" tIns="0" rIns="0" bIns="0" rtlCol="0" anchor="ctr"/>
          <a:lstStyle/>
          <a:p>
            <a:pPr indent="0" marL="0">
              <a:buNone/>
            </a:pPr>
            <a:r>
              <a:rPr lang="en-US" sz="1800" b="1" dirty="0">
                <a:solidFill>
                  <a:schemeClr val="tx2"/>
                </a:solidFill>
              </a:rPr>
              <a:t>Analysis</a:t>
            </a:r>
            <a:endParaRPr lang="en-US" sz="1800" dirty="0"/>
          </a:p>
        </p:txBody>
      </p:sp>
      <p:sp>
        <p:nvSpPr>
          <p:cNvPr id="14" name="Text 11"/>
          <p:cNvSpPr txBox="1"/>
          <p:nvPr/>
        </p:nvSpPr>
        <p:spPr>
          <a:xfrm>
            <a:off x="7863840" y="3977640"/>
            <a:ext cx="3611880" cy="329184"/>
          </a:xfrm>
          <a:prstGeom prst="rect">
            <a:avLst/>
          </a:prstGeom>
          <a:noFill/>
          <a:ln/>
        </p:spPr>
        <p:txBody>
          <a:bodyPr wrap="square" lIns="0" tIns="0" rIns="0" bIns="0" rtlCol="0" anchor="ctr"/>
          <a:lstStyle/>
          <a:p>
            <a:pPr indent="0" marL="0">
              <a:buNone/>
            </a:pPr>
            <a:r>
              <a:rPr lang="en-US" sz="1400" dirty="0">
                <a:solidFill>
                  <a:schemeClr val="accent6"/>
                </a:solidFill>
              </a:rPr>
              <a:t>Marks per chapter vs target, difficulty mix</a:t>
            </a:r>
            <a:endParaRPr lang="en-US" sz="1400" dirty="0"/>
          </a:p>
        </p:txBody>
      </p:sp>
      <p:sp>
        <p:nvSpPr>
          <p:cNvPr id="15" name="Shape 12"/>
          <p:cNvSpPr/>
          <p:nvPr/>
        </p:nvSpPr>
        <p:spPr>
          <a:xfrm>
            <a:off x="7635240" y="4526280"/>
            <a:ext cx="3977640" cy="868680"/>
          </a:xfrm>
          <a:prstGeom prst="roundRect">
            <a:avLst>
              <a:gd name="adj" fmla="val 12632"/>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6" name="Text 13"/>
          <p:cNvSpPr txBox="1"/>
          <p:nvPr/>
        </p:nvSpPr>
        <p:spPr>
          <a:xfrm>
            <a:off x="7863840" y="4617720"/>
            <a:ext cx="3611880" cy="384048"/>
          </a:xfrm>
          <a:prstGeom prst="rect">
            <a:avLst/>
          </a:prstGeom>
          <a:noFill/>
          <a:ln/>
        </p:spPr>
        <p:txBody>
          <a:bodyPr wrap="square" lIns="0" tIns="0" rIns="0" bIns="0" rtlCol="0" anchor="ctr"/>
          <a:lstStyle/>
          <a:p>
            <a:pPr indent="0" marL="0">
              <a:buNone/>
            </a:pPr>
            <a:r>
              <a:rPr lang="en-US" sz="1800" b="1" dirty="0">
                <a:solidFill>
                  <a:schemeClr val="tx2"/>
                </a:solidFill>
              </a:rPr>
              <a:t>Question bank</a:t>
            </a:r>
            <a:endParaRPr lang="en-US" sz="1800" dirty="0"/>
          </a:p>
        </p:txBody>
      </p:sp>
      <p:sp>
        <p:nvSpPr>
          <p:cNvPr id="17" name="Text 14"/>
          <p:cNvSpPr txBox="1"/>
          <p:nvPr/>
        </p:nvSpPr>
        <p:spPr>
          <a:xfrm>
            <a:off x="7863840" y="4983480"/>
            <a:ext cx="3611880" cy="329184"/>
          </a:xfrm>
          <a:prstGeom prst="rect">
            <a:avLst/>
          </a:prstGeom>
          <a:noFill/>
          <a:ln/>
        </p:spPr>
        <p:txBody>
          <a:bodyPr wrap="square" lIns="0" tIns="0" rIns="0" bIns="0" rtlCol="0" anchor="ctr"/>
          <a:lstStyle/>
          <a:p>
            <a:pPr indent="0" marL="0">
              <a:buNone/>
            </a:pPr>
            <a:r>
              <a:rPr lang="en-US" sz="1400" dirty="0">
                <a:solidFill>
                  <a:schemeClr val="accent6"/>
                </a:solidFill>
              </a:rPr>
              <a:t>Search, filter and reuse approved questions</a:t>
            </a:r>
            <a:endParaRPr lang="en-US" sz="1400" dirty="0"/>
          </a:p>
        </p:txBody>
      </p:sp>
      <p:sp>
        <p:nvSpPr>
          <p:cNvPr id="25" name="Slide Number Placeholder 0"/>
          <p:cNvSpPr>
            <a:spLocks noGrp="1"/>
          </p:cNvSpPr>
          <p:nvPr>
            <p:ph type="sldNum" sz="quarter" idx="4294967295"/>
          </p:nvPr>
        </p:nvSpPr>
        <p:spPr>
          <a:xfrm>
            <a:off x="11155680" y="6263640"/>
            <a:ext cx="457200" cy="347472"/>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868680"/>
          </a:xfrm>
          <a:prstGeom prst="rect">
            <a:avLst/>
          </a:prstGeom>
          <a:noFill/>
          <a:ln/>
        </p:spPr>
        <p:txBody>
          <a:bodyPr wrap="square" lIns="0" tIns="0" rIns="0" bIns="0" rtlCol="0" anchor="t"/>
          <a:lstStyle/>
          <a:p>
            <a:pPr indent="0" marL="0">
              <a:buNone/>
            </a:pPr>
            <a:r>
              <a:rPr lang="en-US" sz="3600" b="1" dirty="0">
                <a:solidFill>
                  <a:schemeClr val="tx2"/>
                </a:solidFill>
              </a:rPr>
              <a:t>Built on the exact Board 2027 pattern</a:t>
            </a:r>
            <a:endParaRPr lang="en-US" sz="3600" dirty="0"/>
          </a:p>
        </p:txBody>
      </p:sp>
      <p:sp>
        <p:nvSpPr>
          <p:cNvPr id="3" name="Text 1"/>
          <p:cNvSpPr txBox="1"/>
          <p:nvPr/>
        </p:nvSpPr>
        <p:spPr>
          <a:xfrm>
            <a:off x="548640" y="1280160"/>
            <a:ext cx="11064240" cy="411480"/>
          </a:xfrm>
          <a:prstGeom prst="rect">
            <a:avLst/>
          </a:prstGeom>
          <a:noFill/>
          <a:ln/>
        </p:spPr>
        <p:txBody>
          <a:bodyPr wrap="square" lIns="0" tIns="0" rIns="0" bIns="0" rtlCol="0" anchor="ctr"/>
          <a:lstStyle/>
          <a:p>
            <a:pPr indent="0" marL="0">
              <a:buNone/>
            </a:pPr>
            <a:r>
              <a:rPr lang="en-US" sz="1700" dirty="0">
                <a:solidFill>
                  <a:schemeClr val="accent6"/>
                </a:solidFill>
              </a:rPr>
              <a:t>Full Science paper: 39 questions · 80 marks · 3 hours – as in the official CBSE 2026-27 sample paper</a:t>
            </a:r>
            <a:endParaRPr lang="en-US" sz="1700" dirty="0"/>
          </a:p>
        </p:txBody>
      </p:sp>
      <p:sp>
        <p:nvSpPr>
          <p:cNvPr id="4" name="Shape 2"/>
          <p:cNvSpPr/>
          <p:nvPr/>
        </p:nvSpPr>
        <p:spPr>
          <a:xfrm>
            <a:off x="548640" y="1920240"/>
            <a:ext cx="3520440" cy="1874520"/>
          </a:xfrm>
          <a:prstGeom prst="roundRect">
            <a:avLst>
              <a:gd name="adj" fmla="val 5854"/>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5" name="Shape 3"/>
          <p:cNvSpPr/>
          <p:nvPr/>
        </p:nvSpPr>
        <p:spPr>
          <a:xfrm>
            <a:off x="822960" y="2194560"/>
            <a:ext cx="310896" cy="310896"/>
          </a:xfrm>
          <a:prstGeom prst="ellipse">
            <a:avLst/>
          </a:prstGeom>
          <a:solidFill>
            <a:schemeClr val="accent4"/>
          </a:solidFill>
          <a:ln/>
        </p:spPr>
      </p:sp>
      <p:sp>
        <p:nvSpPr>
          <p:cNvPr id="6" name="Text 4"/>
          <p:cNvSpPr txBox="1"/>
          <p:nvPr/>
        </p:nvSpPr>
        <p:spPr>
          <a:xfrm>
            <a:off x="1280160" y="2121408"/>
            <a:ext cx="2560320" cy="457200"/>
          </a:xfrm>
          <a:prstGeom prst="rect">
            <a:avLst/>
          </a:prstGeom>
          <a:noFill/>
          <a:ln/>
        </p:spPr>
        <p:txBody>
          <a:bodyPr wrap="square" lIns="0" tIns="0" rIns="0" bIns="0" rtlCol="0" anchor="ctr"/>
          <a:lstStyle/>
          <a:p>
            <a:pPr indent="0" marL="0">
              <a:buNone/>
            </a:pPr>
            <a:r>
              <a:rPr lang="en-US" sz="1600" b="1" dirty="0">
                <a:solidFill>
                  <a:schemeClr val="accent6"/>
                </a:solidFill>
              </a:rPr>
              <a:t>Section A</a:t>
            </a:r>
            <a:endParaRPr lang="en-US" sz="1600" dirty="0"/>
          </a:p>
        </p:txBody>
      </p:sp>
      <p:sp>
        <p:nvSpPr>
          <p:cNvPr id="7" name="Text 5"/>
          <p:cNvSpPr txBox="1"/>
          <p:nvPr/>
        </p:nvSpPr>
        <p:spPr>
          <a:xfrm>
            <a:off x="822960" y="2606040"/>
            <a:ext cx="3017520" cy="54864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Biology</a:t>
            </a:r>
            <a:endParaRPr lang="en-US" sz="2800" dirty="0"/>
          </a:p>
        </p:txBody>
      </p:sp>
      <p:sp>
        <p:nvSpPr>
          <p:cNvPr id="8" name="Text 6"/>
          <p:cNvSpPr txBox="1"/>
          <p:nvPr/>
        </p:nvSpPr>
        <p:spPr>
          <a:xfrm>
            <a:off x="822960" y="3200400"/>
            <a:ext cx="3017520" cy="411480"/>
          </a:xfrm>
          <a:prstGeom prst="rect">
            <a:avLst/>
          </a:prstGeom>
          <a:noFill/>
          <a:ln/>
        </p:spPr>
        <p:txBody>
          <a:bodyPr wrap="square" lIns="0" tIns="0" rIns="0" bIns="0" rtlCol="0" anchor="ctr"/>
          <a:lstStyle/>
          <a:p>
            <a:pPr indent="0" marL="0">
              <a:buNone/>
            </a:pPr>
            <a:r>
              <a:rPr lang="en-US" sz="1700" dirty="0">
                <a:solidFill>
                  <a:schemeClr val="tx2"/>
                </a:solidFill>
              </a:rPr>
              <a:t>Q1–16  ·  30 marks</a:t>
            </a:r>
            <a:endParaRPr lang="en-US" sz="1700" dirty="0"/>
          </a:p>
        </p:txBody>
      </p:sp>
      <p:sp>
        <p:nvSpPr>
          <p:cNvPr id="9" name="Shape 7"/>
          <p:cNvSpPr/>
          <p:nvPr/>
        </p:nvSpPr>
        <p:spPr>
          <a:xfrm>
            <a:off x="4297680" y="1920240"/>
            <a:ext cx="3520440" cy="1874520"/>
          </a:xfrm>
          <a:prstGeom prst="roundRect">
            <a:avLst>
              <a:gd name="adj" fmla="val 5854"/>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0" name="Shape 8"/>
          <p:cNvSpPr/>
          <p:nvPr/>
        </p:nvSpPr>
        <p:spPr>
          <a:xfrm>
            <a:off x="4572000" y="2194560"/>
            <a:ext cx="310896" cy="310896"/>
          </a:xfrm>
          <a:prstGeom prst="ellipse">
            <a:avLst/>
          </a:prstGeom>
          <a:solidFill>
            <a:schemeClr val="accent2"/>
          </a:solidFill>
          <a:ln/>
        </p:spPr>
      </p:sp>
      <p:sp>
        <p:nvSpPr>
          <p:cNvPr id="11" name="Text 9"/>
          <p:cNvSpPr txBox="1"/>
          <p:nvPr/>
        </p:nvSpPr>
        <p:spPr>
          <a:xfrm>
            <a:off x="5029200" y="2121408"/>
            <a:ext cx="2560320" cy="457200"/>
          </a:xfrm>
          <a:prstGeom prst="rect">
            <a:avLst/>
          </a:prstGeom>
          <a:noFill/>
          <a:ln/>
        </p:spPr>
        <p:txBody>
          <a:bodyPr wrap="square" lIns="0" tIns="0" rIns="0" bIns="0" rtlCol="0" anchor="ctr"/>
          <a:lstStyle/>
          <a:p>
            <a:pPr indent="0" marL="0">
              <a:buNone/>
            </a:pPr>
            <a:r>
              <a:rPr lang="en-US" sz="1600" b="1" dirty="0">
                <a:solidFill>
                  <a:schemeClr val="accent6"/>
                </a:solidFill>
              </a:rPr>
              <a:t>Section B</a:t>
            </a:r>
            <a:endParaRPr lang="en-US" sz="1600" dirty="0"/>
          </a:p>
        </p:txBody>
      </p:sp>
      <p:sp>
        <p:nvSpPr>
          <p:cNvPr id="12" name="Text 10"/>
          <p:cNvSpPr txBox="1"/>
          <p:nvPr/>
        </p:nvSpPr>
        <p:spPr>
          <a:xfrm>
            <a:off x="4572000" y="2606040"/>
            <a:ext cx="3017520" cy="54864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Chemistry</a:t>
            </a:r>
            <a:endParaRPr lang="en-US" sz="2800" dirty="0"/>
          </a:p>
        </p:txBody>
      </p:sp>
      <p:sp>
        <p:nvSpPr>
          <p:cNvPr id="13" name="Text 11"/>
          <p:cNvSpPr txBox="1"/>
          <p:nvPr/>
        </p:nvSpPr>
        <p:spPr>
          <a:xfrm>
            <a:off x="4572000" y="3200400"/>
            <a:ext cx="3017520" cy="411480"/>
          </a:xfrm>
          <a:prstGeom prst="rect">
            <a:avLst/>
          </a:prstGeom>
          <a:noFill/>
          <a:ln/>
        </p:spPr>
        <p:txBody>
          <a:bodyPr wrap="square" lIns="0" tIns="0" rIns="0" bIns="0" rtlCol="0" anchor="ctr"/>
          <a:lstStyle/>
          <a:p>
            <a:pPr indent="0" marL="0">
              <a:buNone/>
            </a:pPr>
            <a:r>
              <a:rPr lang="en-US" sz="1700" dirty="0">
                <a:solidFill>
                  <a:schemeClr val="tx2"/>
                </a:solidFill>
              </a:rPr>
              <a:t>Q17–29  ·  25 marks</a:t>
            </a:r>
            <a:endParaRPr lang="en-US" sz="1700" dirty="0"/>
          </a:p>
        </p:txBody>
      </p:sp>
      <p:sp>
        <p:nvSpPr>
          <p:cNvPr id="14" name="Shape 12"/>
          <p:cNvSpPr/>
          <p:nvPr/>
        </p:nvSpPr>
        <p:spPr>
          <a:xfrm>
            <a:off x="8046720" y="1920240"/>
            <a:ext cx="3520440" cy="1874520"/>
          </a:xfrm>
          <a:prstGeom prst="roundRect">
            <a:avLst>
              <a:gd name="adj" fmla="val 5854"/>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5" name="Shape 13"/>
          <p:cNvSpPr/>
          <p:nvPr/>
        </p:nvSpPr>
        <p:spPr>
          <a:xfrm>
            <a:off x="8321040" y="2194560"/>
            <a:ext cx="310896" cy="310896"/>
          </a:xfrm>
          <a:prstGeom prst="ellipse">
            <a:avLst/>
          </a:prstGeom>
          <a:solidFill>
            <a:schemeClr val="accent3"/>
          </a:solidFill>
          <a:ln/>
        </p:spPr>
      </p:sp>
      <p:sp>
        <p:nvSpPr>
          <p:cNvPr id="16" name="Text 14"/>
          <p:cNvSpPr txBox="1"/>
          <p:nvPr/>
        </p:nvSpPr>
        <p:spPr>
          <a:xfrm>
            <a:off x="8778240" y="2121408"/>
            <a:ext cx="2560320" cy="457200"/>
          </a:xfrm>
          <a:prstGeom prst="rect">
            <a:avLst/>
          </a:prstGeom>
          <a:noFill/>
          <a:ln/>
        </p:spPr>
        <p:txBody>
          <a:bodyPr wrap="square" lIns="0" tIns="0" rIns="0" bIns="0" rtlCol="0" anchor="ctr"/>
          <a:lstStyle/>
          <a:p>
            <a:pPr indent="0" marL="0">
              <a:buNone/>
            </a:pPr>
            <a:r>
              <a:rPr lang="en-US" sz="1600" b="1" dirty="0">
                <a:solidFill>
                  <a:schemeClr val="accent6"/>
                </a:solidFill>
              </a:rPr>
              <a:t>Section C</a:t>
            </a:r>
            <a:endParaRPr lang="en-US" sz="1600" dirty="0"/>
          </a:p>
        </p:txBody>
      </p:sp>
      <p:sp>
        <p:nvSpPr>
          <p:cNvPr id="17" name="Text 15"/>
          <p:cNvSpPr txBox="1"/>
          <p:nvPr/>
        </p:nvSpPr>
        <p:spPr>
          <a:xfrm>
            <a:off x="8321040" y="2606040"/>
            <a:ext cx="3017520" cy="54864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Physics</a:t>
            </a:r>
            <a:endParaRPr lang="en-US" sz="2800" dirty="0"/>
          </a:p>
        </p:txBody>
      </p:sp>
      <p:sp>
        <p:nvSpPr>
          <p:cNvPr id="18" name="Text 16"/>
          <p:cNvSpPr txBox="1"/>
          <p:nvPr/>
        </p:nvSpPr>
        <p:spPr>
          <a:xfrm>
            <a:off x="8321040" y="3200400"/>
            <a:ext cx="3017520" cy="411480"/>
          </a:xfrm>
          <a:prstGeom prst="rect">
            <a:avLst/>
          </a:prstGeom>
          <a:noFill/>
          <a:ln/>
        </p:spPr>
        <p:txBody>
          <a:bodyPr wrap="square" lIns="0" tIns="0" rIns="0" bIns="0" rtlCol="0" anchor="ctr"/>
          <a:lstStyle/>
          <a:p>
            <a:pPr indent="0" marL="0">
              <a:buNone/>
            </a:pPr>
            <a:r>
              <a:rPr lang="en-US" sz="1700" dirty="0">
                <a:solidFill>
                  <a:schemeClr val="tx2"/>
                </a:solidFill>
              </a:rPr>
              <a:t>Q30–39  ·  25 marks</a:t>
            </a:r>
            <a:endParaRPr lang="en-US" sz="1700" dirty="0"/>
          </a:p>
        </p:txBody>
      </p:sp>
      <p:sp>
        <p:nvSpPr>
          <p:cNvPr id="19" name="Text 17"/>
          <p:cNvSpPr txBox="1"/>
          <p:nvPr/>
        </p:nvSpPr>
        <p:spPr>
          <a:xfrm>
            <a:off x="685800" y="4069080"/>
            <a:ext cx="365760" cy="457200"/>
          </a:xfrm>
          <a:prstGeom prst="rect">
            <a:avLst/>
          </a:prstGeom>
          <a:noFill/>
          <a:ln/>
        </p:spPr>
        <p:txBody>
          <a:bodyPr wrap="square" lIns="0" tIns="0" rIns="0" bIns="0" rtlCol="0" anchor="ctr"/>
          <a:lstStyle/>
          <a:p>
            <a:pPr indent="0" marL="0">
              <a:buNone/>
            </a:pPr>
            <a:r>
              <a:rPr lang="en-US" sz="2000" b="1" dirty="0">
                <a:solidFill>
                  <a:schemeClr val="accent4"/>
                </a:solidFill>
              </a:rPr>
              <a:t>✓</a:t>
            </a:r>
            <a:endParaRPr lang="en-US" sz="2000" dirty="0"/>
          </a:p>
        </p:txBody>
      </p:sp>
      <p:sp>
        <p:nvSpPr>
          <p:cNvPr id="20" name="Text 18"/>
          <p:cNvSpPr txBox="1"/>
          <p:nvPr/>
        </p:nvSpPr>
        <p:spPr>
          <a:xfrm>
            <a:off x="1097280" y="4069080"/>
            <a:ext cx="6766560" cy="457200"/>
          </a:xfrm>
          <a:prstGeom prst="rect">
            <a:avLst/>
          </a:prstGeom>
          <a:noFill/>
          <a:ln/>
        </p:spPr>
        <p:txBody>
          <a:bodyPr wrap="square" lIns="0" tIns="0" rIns="0" bIns="0" rtlCol="0" anchor="ctr"/>
          <a:lstStyle/>
          <a:p>
            <a:pPr indent="0" marL="0">
              <a:buNone/>
            </a:pPr>
            <a:r>
              <a:rPr lang="en-US" sz="1600" dirty="0">
                <a:solidFill>
                  <a:schemeClr val="tx2"/>
                </a:solidFill>
              </a:rPr>
              <a:t>MCQ, assertion–reason, 2, 3 and 5-mark and case-based questions in the official numbers</a:t>
            </a:r>
            <a:endParaRPr lang="en-US" sz="1600" dirty="0"/>
          </a:p>
        </p:txBody>
      </p:sp>
      <p:sp>
        <p:nvSpPr>
          <p:cNvPr id="21" name="Text 19"/>
          <p:cNvSpPr txBox="1"/>
          <p:nvPr/>
        </p:nvSpPr>
        <p:spPr>
          <a:xfrm>
            <a:off x="685800" y="4636008"/>
            <a:ext cx="365760" cy="457200"/>
          </a:xfrm>
          <a:prstGeom prst="rect">
            <a:avLst/>
          </a:prstGeom>
          <a:noFill/>
          <a:ln/>
        </p:spPr>
        <p:txBody>
          <a:bodyPr wrap="square" lIns="0" tIns="0" rIns="0" bIns="0" rtlCol="0" anchor="ctr"/>
          <a:lstStyle/>
          <a:p>
            <a:pPr indent="0" marL="0">
              <a:buNone/>
            </a:pPr>
            <a:r>
              <a:rPr lang="en-US" sz="2000" b="1" dirty="0">
                <a:solidFill>
                  <a:schemeClr val="accent4"/>
                </a:solidFill>
              </a:rPr>
              <a:t>✓</a:t>
            </a:r>
            <a:endParaRPr lang="en-US" sz="2000" dirty="0"/>
          </a:p>
        </p:txBody>
      </p:sp>
      <p:sp>
        <p:nvSpPr>
          <p:cNvPr id="22" name="Text 20"/>
          <p:cNvSpPr txBox="1"/>
          <p:nvPr/>
        </p:nvSpPr>
        <p:spPr>
          <a:xfrm>
            <a:off x="1097280" y="4636008"/>
            <a:ext cx="6766560" cy="457200"/>
          </a:xfrm>
          <a:prstGeom prst="rect">
            <a:avLst/>
          </a:prstGeom>
          <a:noFill/>
          <a:ln/>
        </p:spPr>
        <p:txBody>
          <a:bodyPr wrap="square" lIns="0" tIns="0" rIns="0" bIns="0" rtlCol="0" anchor="ctr"/>
          <a:lstStyle/>
          <a:p>
            <a:pPr indent="0" marL="0">
              <a:buNone/>
            </a:pPr>
            <a:r>
              <a:rPr lang="en-US" sz="1600" dirty="0">
                <a:solidFill>
                  <a:schemeClr val="tx2"/>
                </a:solidFill>
              </a:rPr>
              <a:t>Internal choice (OR) in the same places as the board paper</a:t>
            </a:r>
            <a:endParaRPr lang="en-US" sz="1600" dirty="0"/>
          </a:p>
        </p:txBody>
      </p:sp>
      <p:sp>
        <p:nvSpPr>
          <p:cNvPr id="23" name="Text 21"/>
          <p:cNvSpPr txBox="1"/>
          <p:nvPr/>
        </p:nvSpPr>
        <p:spPr>
          <a:xfrm>
            <a:off x="685800" y="5202936"/>
            <a:ext cx="365760" cy="457200"/>
          </a:xfrm>
          <a:prstGeom prst="rect">
            <a:avLst/>
          </a:prstGeom>
          <a:noFill/>
          <a:ln/>
        </p:spPr>
        <p:txBody>
          <a:bodyPr wrap="square" lIns="0" tIns="0" rIns="0" bIns="0" rtlCol="0" anchor="ctr"/>
          <a:lstStyle/>
          <a:p>
            <a:pPr indent="0" marL="0">
              <a:buNone/>
            </a:pPr>
            <a:r>
              <a:rPr lang="en-US" sz="2000" b="1" dirty="0">
                <a:solidFill>
                  <a:schemeClr val="accent4"/>
                </a:solidFill>
              </a:rPr>
              <a:t>✓</a:t>
            </a:r>
            <a:endParaRPr lang="en-US" sz="2000" dirty="0"/>
          </a:p>
        </p:txBody>
      </p:sp>
      <p:sp>
        <p:nvSpPr>
          <p:cNvPr id="24" name="Text 22"/>
          <p:cNvSpPr txBox="1"/>
          <p:nvPr/>
        </p:nvSpPr>
        <p:spPr>
          <a:xfrm>
            <a:off x="1097280" y="5202936"/>
            <a:ext cx="6766560" cy="457200"/>
          </a:xfrm>
          <a:prstGeom prst="rect">
            <a:avLst/>
          </a:prstGeom>
          <a:noFill/>
          <a:ln/>
        </p:spPr>
        <p:txBody>
          <a:bodyPr wrap="square" lIns="0" tIns="0" rIns="0" bIns="0" rtlCol="0" anchor="ctr"/>
          <a:lstStyle/>
          <a:p>
            <a:pPr indent="0" marL="0">
              <a:buNone/>
            </a:pPr>
            <a:r>
              <a:rPr lang="en-US" sz="1600" dirty="0">
                <a:solidFill>
                  <a:schemeClr val="tx2"/>
                </a:solidFill>
              </a:rPr>
              <a:t>Marks per chapter follow the official sample paper</a:t>
            </a:r>
            <a:endParaRPr lang="en-US" sz="1600" dirty="0"/>
          </a:p>
        </p:txBody>
      </p:sp>
      <p:sp>
        <p:nvSpPr>
          <p:cNvPr id="25" name="Shape 23"/>
          <p:cNvSpPr/>
          <p:nvPr/>
        </p:nvSpPr>
        <p:spPr>
          <a:xfrm>
            <a:off x="8092440" y="4069080"/>
            <a:ext cx="3520440" cy="1600200"/>
          </a:xfrm>
          <a:prstGeom prst="roundRect">
            <a:avLst>
              <a:gd name="adj" fmla="val 6857"/>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26" name="Text 24"/>
          <p:cNvSpPr txBox="1"/>
          <p:nvPr/>
        </p:nvSpPr>
        <p:spPr>
          <a:xfrm>
            <a:off x="8321040" y="4160520"/>
            <a:ext cx="3108960" cy="1417320"/>
          </a:xfrm>
          <a:prstGeom prst="rect">
            <a:avLst/>
          </a:prstGeom>
          <a:noFill/>
          <a:ln/>
        </p:spPr>
        <p:txBody>
          <a:bodyPr wrap="square" lIns="0" tIns="0" rIns="0" bIns="0" rtlCol="0" anchor="ctr"/>
          <a:lstStyle/>
          <a:p>
            <a:pPr indent="0" marL="0">
              <a:buNone/>
            </a:pPr>
            <a:r>
              <a:rPr lang="en-US" sz="1300" b="1" dirty="0">
                <a:solidFill>
                  <a:schemeClr val="accent4"/>
                </a:solidFill>
              </a:rPr>
              <a:t>Biology preboard (30 marks)</a:t>
            </a:r>
            <a:endParaRPr lang="en-US" sz="1300" dirty="0"/>
          </a:p>
          <a:p>
            <a:pPr indent="0" marL="0">
              <a:buNone/>
            </a:pPr>
            <a:r>
              <a:rPr lang="en-US" sz="1300" dirty="0">
                <a:solidFill>
                  <a:schemeClr val="tx2"/>
                </a:solidFill>
              </a:rPr>
              <a:t>Live now</a:t>
            </a:r>
            <a:endParaRPr lang="en-US" sz="1300" dirty="0"/>
          </a:p>
          <a:p>
            <a:pPr indent="0" marL="0">
              <a:buNone/>
            </a:pPr>
            <a:r>
              <a:rPr lang="en-US" sz="1300" b="1" dirty="0">
                <a:solidFill>
                  <a:schemeClr val="accent5"/>
                </a:solidFill>
              </a:rPr>
              <a:t>Full Science paper (80 marks)</a:t>
            </a:r>
            <a:endParaRPr lang="en-US" sz="1300" dirty="0"/>
          </a:p>
          <a:p>
            <a:pPr indent="0" marL="0">
              <a:buNone/>
            </a:pPr>
            <a:r>
              <a:rPr lang="en-US" sz="1300" dirty="0">
                <a:solidFill>
                  <a:schemeClr val="tx2"/>
                </a:solidFill>
              </a:rPr>
              <a:t>Rolling out as the Physics and Chemistry question bank is approved</a:t>
            </a:r>
            <a:endParaRPr lang="en-US" sz="1300" dirty="0"/>
          </a:p>
        </p:txBody>
      </p:sp>
      <p:sp>
        <p:nvSpPr>
          <p:cNvPr id="25" name="Slide Number Placeholder 0"/>
          <p:cNvSpPr>
            <a:spLocks noGrp="1"/>
          </p:cNvSpPr>
          <p:nvPr>
            <p:ph type="sldNum" sz="quarter" idx="4294967295"/>
          </p:nvPr>
        </p:nvSpPr>
        <p:spPr>
          <a:xfrm>
            <a:off x="11155680" y="6263640"/>
            <a:ext cx="457200" cy="347472"/>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868680"/>
          </a:xfrm>
          <a:prstGeom prst="rect">
            <a:avLst/>
          </a:prstGeom>
          <a:noFill/>
          <a:ln/>
        </p:spPr>
        <p:txBody>
          <a:bodyPr wrap="square" lIns="0" tIns="0" rIns="0" bIns="0" rtlCol="0" anchor="t"/>
          <a:lstStyle/>
          <a:p>
            <a:pPr indent="0" marL="0">
              <a:buNone/>
            </a:pPr>
            <a:r>
              <a:rPr lang="en-US" sz="3600" b="1" dirty="0">
                <a:solidFill>
                  <a:schemeClr val="tx2"/>
                </a:solidFill>
              </a:rPr>
              <a:t>Hours back for what matters</a:t>
            </a:r>
            <a:endParaRPr lang="en-US" sz="3600" dirty="0"/>
          </a:p>
        </p:txBody>
      </p:sp>
      <p:sp>
        <p:nvSpPr>
          <p:cNvPr id="3" name="Shape 1"/>
          <p:cNvSpPr/>
          <p:nvPr/>
        </p:nvSpPr>
        <p:spPr>
          <a:xfrm>
            <a:off x="548640" y="1508760"/>
            <a:ext cx="11064240" cy="1417320"/>
          </a:xfrm>
          <a:prstGeom prst="roundRect">
            <a:avLst>
              <a:gd name="adj" fmla="val 7742"/>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4" name="Text 2"/>
          <p:cNvSpPr txBox="1"/>
          <p:nvPr/>
        </p:nvSpPr>
        <p:spPr>
          <a:xfrm>
            <a:off x="822960" y="1600200"/>
            <a:ext cx="10515600" cy="91440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4–6 hours</a:t>
            </a:r>
            <a:pPr indent="0" marL="0">
              <a:buNone/>
            </a:pPr>
            <a:r>
              <a:rPr lang="en-US" sz="4000" dirty="0">
                <a:solidFill>
                  <a:schemeClr val="accent6"/>
                </a:solidFill>
                <a:latin typeface="Cambria" pitchFamily="34" charset="0"/>
                <a:ea typeface="Cambria" pitchFamily="34" charset="-122"/>
                <a:cs typeface="Cambria" pitchFamily="34" charset="-120"/>
              </a:rPr>
              <a:t>   →   </a:t>
            </a:r>
            <a:pPr indent="0" marL="0">
              <a:buNone/>
            </a:pPr>
            <a:r>
              <a:rPr lang="en-US" sz="4000" b="1" dirty="0">
                <a:solidFill>
                  <a:schemeClr val="accent4"/>
                </a:solidFill>
                <a:latin typeface="Cambria" pitchFamily="34" charset="0"/>
                <a:ea typeface="Cambria" pitchFamily="34" charset="-122"/>
                <a:cs typeface="Cambria" pitchFamily="34" charset="-120"/>
              </a:rPr>
              <a:t>about 15 minutes</a:t>
            </a:r>
            <a:endParaRPr lang="en-US" sz="4000" dirty="0"/>
          </a:p>
        </p:txBody>
      </p:sp>
      <p:sp>
        <p:nvSpPr>
          <p:cNvPr id="5" name="Text 3"/>
          <p:cNvSpPr txBox="1"/>
          <p:nvPr/>
        </p:nvSpPr>
        <p:spPr>
          <a:xfrm>
            <a:off x="822960" y="2423160"/>
            <a:ext cx="7315200" cy="365760"/>
          </a:xfrm>
          <a:prstGeom prst="rect">
            <a:avLst/>
          </a:prstGeom>
          <a:noFill/>
          <a:ln/>
        </p:spPr>
        <p:txBody>
          <a:bodyPr wrap="square" lIns="0" tIns="0" rIns="0" bIns="0" rtlCol="0" anchor="ctr"/>
          <a:lstStyle/>
          <a:p>
            <a:pPr indent="0" marL="0">
              <a:buNone/>
            </a:pPr>
            <a:r>
              <a:rPr lang="en-US" sz="1500" i="1" dirty="0">
                <a:solidFill>
                  <a:schemeClr val="accent6"/>
                </a:solidFill>
              </a:rPr>
              <a:t>per preboard paper (our target)</a:t>
            </a:r>
            <a:endParaRPr lang="en-US" sz="1500" dirty="0"/>
          </a:p>
        </p:txBody>
      </p:sp>
      <p:sp>
        <p:nvSpPr>
          <p:cNvPr id="6" name="Shape 4"/>
          <p:cNvSpPr/>
          <p:nvPr/>
        </p:nvSpPr>
        <p:spPr>
          <a:xfrm>
            <a:off x="548640" y="3200400"/>
            <a:ext cx="5440680" cy="1097280"/>
          </a:xfrm>
          <a:prstGeom prst="roundRect">
            <a:avLst>
              <a:gd name="adj" fmla="val 10000"/>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7" name="Shape 5"/>
          <p:cNvSpPr/>
          <p:nvPr/>
        </p:nvSpPr>
        <p:spPr>
          <a:xfrm>
            <a:off x="868680" y="3566160"/>
            <a:ext cx="365760" cy="365760"/>
          </a:xfrm>
          <a:prstGeom prst="ellipse">
            <a:avLst/>
          </a:prstGeom>
          <a:solidFill>
            <a:schemeClr val="accent2"/>
          </a:solidFill>
          <a:ln/>
        </p:spPr>
      </p:sp>
      <p:sp>
        <p:nvSpPr>
          <p:cNvPr id="8" name="Text 6"/>
          <p:cNvSpPr txBox="1"/>
          <p:nvPr/>
        </p:nvSpPr>
        <p:spPr>
          <a:xfrm>
            <a:off x="1463040" y="3383280"/>
            <a:ext cx="4343400" cy="731520"/>
          </a:xfrm>
          <a:prstGeom prst="rect">
            <a:avLst/>
          </a:prstGeom>
          <a:noFill/>
          <a:ln/>
        </p:spPr>
        <p:txBody>
          <a:bodyPr wrap="square" lIns="0" tIns="0" rIns="0" bIns="0" rtlCol="0" anchor="ctr"/>
          <a:lstStyle/>
          <a:p>
            <a:pPr indent="0" marL="0">
              <a:buNone/>
            </a:pPr>
            <a:r>
              <a:rPr lang="en-US" sz="2000" b="1" dirty="0">
                <a:solidFill>
                  <a:schemeClr val="tx2"/>
                </a:solidFill>
              </a:rPr>
              <a:t>Mentoring students one-to-one</a:t>
            </a:r>
            <a:endParaRPr lang="en-US" sz="2000" dirty="0"/>
          </a:p>
        </p:txBody>
      </p:sp>
      <p:sp>
        <p:nvSpPr>
          <p:cNvPr id="9" name="Shape 7"/>
          <p:cNvSpPr/>
          <p:nvPr/>
        </p:nvSpPr>
        <p:spPr>
          <a:xfrm>
            <a:off x="6172200" y="3200400"/>
            <a:ext cx="5440680" cy="1097280"/>
          </a:xfrm>
          <a:prstGeom prst="roundRect">
            <a:avLst>
              <a:gd name="adj" fmla="val 10000"/>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0" name="Shape 8"/>
          <p:cNvSpPr/>
          <p:nvPr/>
        </p:nvSpPr>
        <p:spPr>
          <a:xfrm>
            <a:off x="6492240" y="3566160"/>
            <a:ext cx="365760" cy="365760"/>
          </a:xfrm>
          <a:prstGeom prst="ellipse">
            <a:avLst/>
          </a:prstGeom>
          <a:solidFill>
            <a:schemeClr val="accent5"/>
          </a:solidFill>
          <a:ln/>
        </p:spPr>
      </p:sp>
      <p:sp>
        <p:nvSpPr>
          <p:cNvPr id="11" name="Text 9"/>
          <p:cNvSpPr txBox="1"/>
          <p:nvPr/>
        </p:nvSpPr>
        <p:spPr>
          <a:xfrm>
            <a:off x="7086600" y="3383280"/>
            <a:ext cx="4343400" cy="731520"/>
          </a:xfrm>
          <a:prstGeom prst="rect">
            <a:avLst/>
          </a:prstGeom>
          <a:noFill/>
          <a:ln/>
        </p:spPr>
        <p:txBody>
          <a:bodyPr wrap="square" lIns="0" tIns="0" rIns="0" bIns="0" rtlCol="0" anchor="ctr"/>
          <a:lstStyle/>
          <a:p>
            <a:pPr indent="0" marL="0">
              <a:buNone/>
            </a:pPr>
            <a:r>
              <a:rPr lang="en-US" sz="2000" b="1" dirty="0">
                <a:solidFill>
                  <a:schemeClr val="tx2"/>
                </a:solidFill>
              </a:rPr>
              <a:t>Creative, activity-based lessons</a:t>
            </a:r>
            <a:endParaRPr lang="en-US" sz="2000" dirty="0"/>
          </a:p>
        </p:txBody>
      </p:sp>
      <p:sp>
        <p:nvSpPr>
          <p:cNvPr id="12" name="Shape 10"/>
          <p:cNvSpPr/>
          <p:nvPr/>
        </p:nvSpPr>
        <p:spPr>
          <a:xfrm>
            <a:off x="548640" y="4526280"/>
            <a:ext cx="5440680" cy="1097280"/>
          </a:xfrm>
          <a:prstGeom prst="roundRect">
            <a:avLst>
              <a:gd name="adj" fmla="val 10000"/>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3" name="Shape 11"/>
          <p:cNvSpPr/>
          <p:nvPr/>
        </p:nvSpPr>
        <p:spPr>
          <a:xfrm>
            <a:off x="868680" y="4892040"/>
            <a:ext cx="365760" cy="365760"/>
          </a:xfrm>
          <a:prstGeom prst="ellipse">
            <a:avLst/>
          </a:prstGeom>
          <a:solidFill>
            <a:schemeClr val="accent3"/>
          </a:solidFill>
          <a:ln/>
        </p:spPr>
      </p:sp>
      <p:sp>
        <p:nvSpPr>
          <p:cNvPr id="14" name="Text 12"/>
          <p:cNvSpPr txBox="1"/>
          <p:nvPr/>
        </p:nvSpPr>
        <p:spPr>
          <a:xfrm>
            <a:off x="1463040" y="4709160"/>
            <a:ext cx="4343400" cy="731520"/>
          </a:xfrm>
          <a:prstGeom prst="rect">
            <a:avLst/>
          </a:prstGeom>
          <a:noFill/>
          <a:ln/>
        </p:spPr>
        <p:txBody>
          <a:bodyPr wrap="square" lIns="0" tIns="0" rIns="0" bIns="0" rtlCol="0" anchor="ctr"/>
          <a:lstStyle/>
          <a:p>
            <a:pPr indent="0" marL="0">
              <a:buNone/>
            </a:pPr>
            <a:r>
              <a:rPr lang="en-US" sz="2000" b="1" dirty="0">
                <a:solidFill>
                  <a:schemeClr val="tx2"/>
                </a:solidFill>
              </a:rPr>
              <a:t>Extra help for students who need it</a:t>
            </a:r>
            <a:endParaRPr lang="en-US" sz="2000" dirty="0"/>
          </a:p>
        </p:txBody>
      </p:sp>
      <p:sp>
        <p:nvSpPr>
          <p:cNvPr id="15" name="Shape 13"/>
          <p:cNvSpPr/>
          <p:nvPr/>
        </p:nvSpPr>
        <p:spPr>
          <a:xfrm>
            <a:off x="6172200" y="4526280"/>
            <a:ext cx="5440680" cy="1097280"/>
          </a:xfrm>
          <a:prstGeom prst="roundRect">
            <a:avLst>
              <a:gd name="adj" fmla="val 10000"/>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6" name="Shape 14"/>
          <p:cNvSpPr/>
          <p:nvPr/>
        </p:nvSpPr>
        <p:spPr>
          <a:xfrm>
            <a:off x="6492240" y="4892040"/>
            <a:ext cx="365760" cy="365760"/>
          </a:xfrm>
          <a:prstGeom prst="ellipse">
            <a:avLst/>
          </a:prstGeom>
          <a:solidFill>
            <a:schemeClr val="accent4"/>
          </a:solidFill>
          <a:ln/>
        </p:spPr>
      </p:sp>
      <p:sp>
        <p:nvSpPr>
          <p:cNvPr id="17" name="Text 15"/>
          <p:cNvSpPr txBox="1"/>
          <p:nvPr/>
        </p:nvSpPr>
        <p:spPr>
          <a:xfrm>
            <a:off x="7086600" y="4709160"/>
            <a:ext cx="4343400" cy="731520"/>
          </a:xfrm>
          <a:prstGeom prst="rect">
            <a:avLst/>
          </a:prstGeom>
          <a:noFill/>
          <a:ln/>
        </p:spPr>
        <p:txBody>
          <a:bodyPr wrap="square" lIns="0" tIns="0" rIns="0" bIns="0" rtlCol="0" anchor="ctr"/>
          <a:lstStyle/>
          <a:p>
            <a:pPr indent="0" marL="0">
              <a:buNone/>
            </a:pPr>
            <a:r>
              <a:rPr lang="en-US" sz="2000" b="1" dirty="0">
                <a:solidFill>
                  <a:schemeClr val="tx2"/>
                </a:solidFill>
              </a:rPr>
              <a:t>Time for family and rest</a:t>
            </a:r>
            <a:endParaRPr lang="en-US" sz="2000" dirty="0"/>
          </a:p>
        </p:txBody>
      </p:sp>
      <p:sp>
        <p:nvSpPr>
          <p:cNvPr id="25" name="Slide Number Placeholder 0"/>
          <p:cNvSpPr>
            <a:spLocks noGrp="1"/>
          </p:cNvSpPr>
          <p:nvPr>
            <p:ph type="sldNum" sz="quarter" idx="4294967295"/>
          </p:nvPr>
        </p:nvSpPr>
        <p:spPr>
          <a:xfrm>
            <a:off x="11155680" y="6263640"/>
            <a:ext cx="457200" cy="347472"/>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868680"/>
          </a:xfrm>
          <a:prstGeom prst="rect">
            <a:avLst/>
          </a:prstGeom>
          <a:noFill/>
          <a:ln/>
        </p:spPr>
        <p:txBody>
          <a:bodyPr wrap="square" lIns="0" tIns="0" rIns="0" bIns="0" rtlCol="0" anchor="t"/>
          <a:lstStyle/>
          <a:p>
            <a:pPr indent="0" marL="0">
              <a:buNone/>
            </a:pPr>
            <a:r>
              <a:rPr lang="en-US" sz="3600" b="1" dirty="0">
                <a:solidFill>
                  <a:schemeClr val="tx2"/>
                </a:solidFill>
              </a:rPr>
              <a:t>Bringing it to your school</a:t>
            </a:r>
            <a:endParaRPr lang="en-US" sz="3600" dirty="0"/>
          </a:p>
        </p:txBody>
      </p:sp>
      <p:sp>
        <p:nvSpPr>
          <p:cNvPr id="3" name="Shape 1"/>
          <p:cNvSpPr/>
          <p:nvPr/>
        </p:nvSpPr>
        <p:spPr>
          <a:xfrm>
            <a:off x="548640" y="1554480"/>
            <a:ext cx="3520440" cy="2743200"/>
          </a:xfrm>
          <a:prstGeom prst="roundRect">
            <a:avLst>
              <a:gd name="adj" fmla="val 4000"/>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4" name="Text 2"/>
          <p:cNvSpPr txBox="1"/>
          <p:nvPr/>
        </p:nvSpPr>
        <p:spPr>
          <a:xfrm>
            <a:off x="868680" y="1828800"/>
            <a:ext cx="685800" cy="685800"/>
          </a:xfrm>
          <a:prstGeom prst="ellipse">
            <a:avLst/>
          </a:prstGeom>
          <a:solidFill>
            <a:schemeClr val="accent5"/>
          </a:solid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5" name="Text 3"/>
          <p:cNvSpPr txBox="1"/>
          <p:nvPr/>
        </p:nvSpPr>
        <p:spPr>
          <a:xfrm>
            <a:off x="868680" y="2697480"/>
            <a:ext cx="2926080" cy="4572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Live demo</a:t>
            </a:r>
            <a:endParaRPr lang="en-US" sz="2400" dirty="0"/>
          </a:p>
        </p:txBody>
      </p:sp>
      <p:sp>
        <p:nvSpPr>
          <p:cNvPr id="6" name="Text 4"/>
          <p:cNvSpPr txBox="1"/>
          <p:nvPr/>
        </p:nvSpPr>
        <p:spPr>
          <a:xfrm>
            <a:off x="868680" y="3200400"/>
            <a:ext cx="2926080" cy="960120"/>
          </a:xfrm>
          <a:prstGeom prst="rect">
            <a:avLst/>
          </a:prstGeom>
          <a:noFill/>
          <a:ln/>
        </p:spPr>
        <p:txBody>
          <a:bodyPr wrap="square" lIns="0" tIns="0" rIns="0" bIns="0" rtlCol="0" anchor="t"/>
          <a:lstStyle/>
          <a:p>
            <a:pPr indent="0" marL="0">
              <a:buNone/>
            </a:pPr>
            <a:r>
              <a:rPr lang="en-US" sz="1600" dirty="0">
                <a:solidFill>
                  <a:schemeClr val="tx2"/>
                </a:solidFill>
              </a:rPr>
              <a:t>Today – we make a paper together in this meeting.</a:t>
            </a:r>
            <a:endParaRPr lang="en-US" sz="1600" dirty="0"/>
          </a:p>
        </p:txBody>
      </p:sp>
      <p:sp>
        <p:nvSpPr>
          <p:cNvPr id="7" name="Shape 5"/>
          <p:cNvSpPr/>
          <p:nvPr/>
        </p:nvSpPr>
        <p:spPr>
          <a:xfrm>
            <a:off x="4096512" y="2743200"/>
            <a:ext cx="182880" cy="274320"/>
          </a:xfrm>
          <a:prstGeom prst="rightArrow">
            <a:avLst/>
          </a:prstGeom>
          <a:solidFill>
            <a:schemeClr val="accent6"/>
          </a:solidFill>
          <a:ln/>
        </p:spPr>
      </p:sp>
      <p:sp>
        <p:nvSpPr>
          <p:cNvPr id="8" name="Shape 6"/>
          <p:cNvSpPr/>
          <p:nvPr/>
        </p:nvSpPr>
        <p:spPr>
          <a:xfrm>
            <a:off x="4297680" y="1554480"/>
            <a:ext cx="3520440" cy="2743200"/>
          </a:xfrm>
          <a:prstGeom prst="roundRect">
            <a:avLst>
              <a:gd name="adj" fmla="val 4000"/>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9" name="Text 7"/>
          <p:cNvSpPr txBox="1"/>
          <p:nvPr/>
        </p:nvSpPr>
        <p:spPr>
          <a:xfrm>
            <a:off x="4617720" y="1828800"/>
            <a:ext cx="685800" cy="685800"/>
          </a:xfrm>
          <a:prstGeom prst="ellipse">
            <a:avLst/>
          </a:prstGeom>
          <a:solidFill>
            <a:schemeClr val="accent5"/>
          </a:solid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0" name="Text 8"/>
          <p:cNvSpPr txBox="1"/>
          <p:nvPr/>
        </p:nvSpPr>
        <p:spPr>
          <a:xfrm>
            <a:off x="4617720" y="2697480"/>
            <a:ext cx="2926080" cy="4572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Pilot</a:t>
            </a:r>
            <a:endParaRPr lang="en-US" sz="2400" dirty="0"/>
          </a:p>
        </p:txBody>
      </p:sp>
      <p:sp>
        <p:nvSpPr>
          <p:cNvPr id="11" name="Text 9"/>
          <p:cNvSpPr txBox="1"/>
          <p:nvPr/>
        </p:nvSpPr>
        <p:spPr>
          <a:xfrm>
            <a:off x="4617720" y="3200400"/>
            <a:ext cx="2926080" cy="960120"/>
          </a:xfrm>
          <a:prstGeom prst="rect">
            <a:avLst/>
          </a:prstGeom>
          <a:noFill/>
          <a:ln/>
        </p:spPr>
        <p:txBody>
          <a:bodyPr wrap="square" lIns="0" tIns="0" rIns="0" bIns="0" rtlCol="0" anchor="t"/>
          <a:lstStyle/>
          <a:p>
            <a:pPr indent="0" marL="0">
              <a:buNone/>
            </a:pPr>
            <a:r>
              <a:rPr lang="en-US" sz="1600" dirty="0">
                <a:solidFill>
                  <a:schemeClr val="tx2"/>
                </a:solidFill>
              </a:rPr>
              <a:t>Class 10 Science teachers use it for the next preboard round.</a:t>
            </a:r>
            <a:endParaRPr lang="en-US" sz="1600" dirty="0"/>
          </a:p>
        </p:txBody>
      </p:sp>
      <p:sp>
        <p:nvSpPr>
          <p:cNvPr id="12" name="Shape 10"/>
          <p:cNvSpPr/>
          <p:nvPr/>
        </p:nvSpPr>
        <p:spPr>
          <a:xfrm>
            <a:off x="7845552" y="2743200"/>
            <a:ext cx="182880" cy="274320"/>
          </a:xfrm>
          <a:prstGeom prst="rightArrow">
            <a:avLst/>
          </a:prstGeom>
          <a:solidFill>
            <a:schemeClr val="accent6"/>
          </a:solidFill>
          <a:ln/>
        </p:spPr>
      </p:sp>
      <p:sp>
        <p:nvSpPr>
          <p:cNvPr id="13" name="Shape 11"/>
          <p:cNvSpPr/>
          <p:nvPr/>
        </p:nvSpPr>
        <p:spPr>
          <a:xfrm>
            <a:off x="8046720" y="1554480"/>
            <a:ext cx="3520440" cy="2743200"/>
          </a:xfrm>
          <a:prstGeom prst="roundRect">
            <a:avLst>
              <a:gd name="adj" fmla="val 4000"/>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4" name="Text 12"/>
          <p:cNvSpPr txBox="1"/>
          <p:nvPr/>
        </p:nvSpPr>
        <p:spPr>
          <a:xfrm>
            <a:off x="8366760" y="1828800"/>
            <a:ext cx="685800" cy="685800"/>
          </a:xfrm>
          <a:prstGeom prst="ellipse">
            <a:avLst/>
          </a:prstGeom>
          <a:solidFill>
            <a:schemeClr val="accent5"/>
          </a:solid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5" name="Text 13"/>
          <p:cNvSpPr txBox="1"/>
          <p:nvPr/>
        </p:nvSpPr>
        <p:spPr>
          <a:xfrm>
            <a:off x="8366760" y="2697480"/>
            <a:ext cx="2926080" cy="4572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Expand</a:t>
            </a:r>
            <a:endParaRPr lang="en-US" sz="2400" dirty="0"/>
          </a:p>
        </p:txBody>
      </p:sp>
      <p:sp>
        <p:nvSpPr>
          <p:cNvPr id="16" name="Text 14"/>
          <p:cNvSpPr txBox="1"/>
          <p:nvPr/>
        </p:nvSpPr>
        <p:spPr>
          <a:xfrm>
            <a:off x="8366760" y="3200400"/>
            <a:ext cx="2926080" cy="960120"/>
          </a:xfrm>
          <a:prstGeom prst="rect">
            <a:avLst/>
          </a:prstGeom>
          <a:noFill/>
          <a:ln/>
        </p:spPr>
        <p:txBody>
          <a:bodyPr wrap="square" lIns="0" tIns="0" rIns="0" bIns="0" rtlCol="0" anchor="t"/>
          <a:lstStyle/>
          <a:p>
            <a:pPr indent="0" marL="0">
              <a:buNone/>
            </a:pPr>
            <a:r>
              <a:rPr lang="en-US" sz="1600" dirty="0">
                <a:solidFill>
                  <a:schemeClr val="tx2"/>
                </a:solidFill>
              </a:rPr>
              <a:t>More subjects and classes, based on your teachers' feedback.</a:t>
            </a:r>
            <a:endParaRPr lang="en-US" sz="1600" dirty="0"/>
          </a:p>
        </p:txBody>
      </p:sp>
      <p:sp>
        <p:nvSpPr>
          <p:cNvPr id="17" name="Shape 15"/>
          <p:cNvSpPr/>
          <p:nvPr/>
        </p:nvSpPr>
        <p:spPr>
          <a:xfrm>
            <a:off x="548640" y="4572000"/>
            <a:ext cx="11064240" cy="1234440"/>
          </a:xfrm>
          <a:prstGeom prst="roundRect">
            <a:avLst>
              <a:gd name="adj" fmla="val 8889"/>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8" name="Text 16"/>
          <p:cNvSpPr txBox="1"/>
          <p:nvPr/>
        </p:nvSpPr>
        <p:spPr>
          <a:xfrm>
            <a:off x="822960" y="4709160"/>
            <a:ext cx="10515600" cy="960120"/>
          </a:xfrm>
          <a:prstGeom prst="rect">
            <a:avLst/>
          </a:prstGeom>
          <a:noFill/>
          <a:ln/>
        </p:spPr>
        <p:txBody>
          <a:bodyPr wrap="square" lIns="0" tIns="0" rIns="0" bIns="0" rtlCol="0" anchor="ctr"/>
          <a:lstStyle/>
          <a:p>
            <a:pPr indent="0" marL="0">
              <a:buNone/>
            </a:pPr>
            <a:r>
              <a:rPr lang="en-US" sz="1800" b="1" dirty="0">
                <a:solidFill>
                  <a:schemeClr val="tx2"/>
                </a:solidFill>
              </a:rPr>
              <a:t>What the school needs:  </a:t>
            </a:r>
            <a:pPr indent="0" marL="0">
              <a:buNone/>
            </a:pPr>
            <a:r>
              <a:rPr lang="en-US" sz="1800" dirty="0">
                <a:solidFill>
                  <a:schemeClr val="tx2"/>
                </a:solidFill>
              </a:rPr>
              <a:t>a laptop and a browser. No software to install, and the teacher approves every question.</a:t>
            </a:r>
            <a:endParaRPr lang="en-US" sz="1800" dirty="0"/>
          </a:p>
        </p:txBody>
      </p:sp>
      <p:sp>
        <p:nvSpPr>
          <p:cNvPr id="25" name="Slide Number Placeholder 0"/>
          <p:cNvSpPr>
            <a:spLocks noGrp="1"/>
          </p:cNvSpPr>
          <p:nvPr>
            <p:ph type="sldNum" sz="quarter" idx="4294967295"/>
          </p:nvPr>
        </p:nvSpPr>
        <p:spPr>
          <a:xfrm>
            <a:off x="11155680" y="6263640"/>
            <a:ext cx="457200" cy="347472"/>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Users\lavan\AppData\Local\Temp\claude\c--Users-lavan-Desktop-AI-Projects-preboard-generator-2310\c0b0e588-07af-4450-b94f-1570c39be517\scratchpad\deck\logo.png">    </p:cNvPr>
          <p:cNvPicPr>
            <a:picLocks noChangeAspect="1"/>
          </p:cNvPicPr>
          <p:nvPr/>
        </p:nvPicPr>
        <p:blipFill>
          <a:blip r:embed="rId1"/>
          <a:stretch>
            <a:fillRect/>
          </a:stretch>
        </p:blipFill>
        <p:spPr>
          <a:xfrm>
            <a:off x="5184648" y="640080"/>
            <a:ext cx="1828800" cy="1828800"/>
          </a:xfrm>
          <a:prstGeom prst="rect">
            <a:avLst/>
          </a:prstGeom>
        </p:spPr>
      </p:pic>
      <p:sp>
        <p:nvSpPr>
          <p:cNvPr id="3" name="Text 0"/>
          <p:cNvSpPr txBox="1"/>
          <p:nvPr/>
        </p:nvSpPr>
        <p:spPr>
          <a:xfrm>
            <a:off x="548640" y="2743200"/>
            <a:ext cx="11064240" cy="82296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Let's make a paper together</a:t>
            </a:r>
            <a:endParaRPr lang="en-US" sz="4000" dirty="0"/>
          </a:p>
        </p:txBody>
      </p:sp>
      <p:sp>
        <p:nvSpPr>
          <p:cNvPr id="4" name="Text 1"/>
          <p:cNvSpPr txBox="1"/>
          <p:nvPr/>
        </p:nvSpPr>
        <p:spPr>
          <a:xfrm>
            <a:off x="548640" y="3566160"/>
            <a:ext cx="11064240" cy="548640"/>
          </a:xfrm>
          <a:prstGeom prst="rect">
            <a:avLst/>
          </a:prstGeom>
          <a:noFill/>
          <a:ln/>
        </p:spPr>
        <p:txBody>
          <a:bodyPr wrap="square" lIns="0" tIns="0" rIns="0" bIns="0" rtlCol="0" anchor="ctr"/>
          <a:lstStyle/>
          <a:p>
            <a:pPr algn="ctr" indent="0" marL="0">
              <a:buNone/>
            </a:pPr>
            <a:r>
              <a:rPr lang="en-US" sz="2000" dirty="0">
                <a:solidFill>
                  <a:schemeClr val="bg1"/>
                </a:solidFill>
              </a:rPr>
              <a:t>Your school's name · one click · question paper and answer key in minutes</a:t>
            </a:r>
            <a:endParaRPr lang="en-US" sz="2000" dirty="0"/>
          </a:p>
        </p:txBody>
      </p:sp>
      <p:sp>
        <p:nvSpPr>
          <p:cNvPr id="5" name="Text 2">
            <a:hlinkClick r:id="rId2" tooltip="Open Preboard Generator"/>
          </p:cNvPr>
          <p:cNvSpPr txBox="1"/>
          <p:nvPr/>
        </p:nvSpPr>
        <p:spPr>
          <a:xfrm>
            <a:off x="3813048" y="4434840"/>
            <a:ext cx="4572000" cy="868680"/>
          </a:xfrm>
          <a:prstGeom prst="roundRect">
            <a:avLst>
              <a:gd name="adj" fmla="val 21053"/>
            </a:avLst>
          </a:prstGeom>
          <a:solidFill>
            <a:schemeClr val="accent1"/>
          </a:solidFill>
          <a:ln/>
        </p:spPr>
        <p:txBody>
          <a:bodyPr wrap="square" rtlCol="0" anchor="ctr"/>
          <a:lstStyle/>
          <a:p>
            <a:pPr algn="ctr" indent="0" marL="0">
              <a:buNone/>
            </a:pPr>
            <a:r>
              <a:rPr lang="en-US" sz="2400" b="1" u="sng" dirty="0">
                <a:solidFill>
                  <a:schemeClr val="tx1"/>
                </a:solidFill>
                <a:hlinkClick r:id="rId2" invalidUrl="" action="" tgtFrame="" tooltip="Open Preboard Generator" history="1" highlightClick="0" endSnd="0">
                  <a:extLst>
                    <a:ext uri="{A12FA001-AC4F-418D-AE19-62706E023703}">
                      <ahyp:hlinkClr xmlns:ahyp="http://schemas.microsoft.com/office/drawing/2018/hyperlinkcolor" val="tx"/>
                    </a:ext>
                  </a:extLst>
                </a:hlinkClick>
              </a:rPr>
              <a:t>Open the live app  →</a:t>
            </a:r>
            <a:endParaRPr lang="en-US" sz="2400" dirty="0"/>
          </a:p>
        </p:txBody>
      </p:sp>
      <p:sp>
        <p:nvSpPr>
          <p:cNvPr id="6" name="Text 3"/>
          <p:cNvSpPr txBox="1"/>
          <p:nvPr/>
        </p:nvSpPr>
        <p:spPr>
          <a:xfrm>
            <a:off x="548640" y="5989320"/>
            <a:ext cx="11064240" cy="411480"/>
          </a:xfrm>
          <a:prstGeom prst="rect">
            <a:avLst/>
          </a:prstGeom>
          <a:noFill/>
          <a:ln/>
        </p:spPr>
        <p:txBody>
          <a:bodyPr wrap="square" lIns="0" tIns="0" rIns="0" bIns="0" rtlCol="0" anchor="ctr"/>
          <a:lstStyle/>
          <a:p>
            <a:pPr algn="ctr" indent="0" marL="0">
              <a:buNone/>
            </a:pPr>
            <a:r>
              <a:rPr lang="en-US" sz="1400" i="1" dirty="0">
                <a:solidFill>
                  <a:srgbClr val="C9B48A"/>
                </a:solidFill>
              </a:rPr>
              <a:t>Lavanya AI Consultancy  ·  An initiative to make Schools AI-enabled</a:t>
            </a:r>
            <a:endParaRPr lang="en-US" sz="1400" dirty="0"/>
          </a:p>
        </p:txBody>
      </p:sp>
    </p:spTree>
  </p:cSld>
  <p:clrMapOvr>
    <a:masterClrMapping/>
  </p:clrMapOvr>
</p:sld>
</file>

<file path=ppt/theme/theme1.xml><?xml version="1.0" encoding="utf-8"?>
<a:theme xmlns:a="http://schemas.openxmlformats.org/drawingml/2006/main" name="Lavanya Gold">
  <a:themeElements>
    <a:clrScheme name="Lavanya Gold">
      <a:dk1>
        <a:srgbClr val="2B1A0E"/>
      </a:dk1>
      <a:lt1>
        <a:srgbClr val="FFFFFF"/>
      </a:lt1>
      <a:dk2>
        <a:srgbClr val="1B2A4A"/>
      </a:dk2>
      <a:lt2>
        <a:srgbClr val="F5F7F6"/>
      </a:lt2>
      <a:accent1>
        <a:srgbClr val="E9B949"/>
      </a:accent1>
      <a:accent2>
        <a:srgbClr val="1F4FD1"/>
      </a:accent2>
      <a:accent3>
        <a:srgbClr val="C8372D"/>
      </a:accent3>
      <a:accent4>
        <a:srgbClr val="2E8B57"/>
      </a:accent4>
      <a:accent5>
        <a:srgbClr val="B9811C"/>
      </a:accent5>
      <a:accent6>
        <a:srgbClr val="5B6B85"/>
      </a:accent6>
      <a:hlink>
        <a:srgbClr val="1F4FD1"/>
      </a:hlink>
      <a:folHlink>
        <a:srgbClr val="5B6B85"/>
      </a:folHlink>
    </a:clrScheme>
    <a:fontScheme name="Lavanya Go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Lavanya AI Consultancy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Preboard Generator</dc:title>
  <dc:subject>PptxGenJS Presentation</dc:subject>
  <dc:creator>Lavanya AI Consultancy</dc:creator>
  <cp:lastModifiedBy>Lavanya AI Consultancy</cp:lastModifiedBy>
  <cp:revision>1</cp:revision>
  <dcterms:created xsi:type="dcterms:W3CDTF">2026-10-25T16:52:05Z</dcterms:created>
  <dcterms:modified xsi:type="dcterms:W3CDTF">2026-10-25T16:52:05Z</dcterms:modified>
</cp:coreProperties>
</file>